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56ed51d611142dd" /><Relationship Type="http://schemas.openxmlformats.org/officeDocument/2006/relationships/extended-properties" Target="/docProps/app.xml" Id="R1681bcae77fd4be8" /><Relationship Type="http://schemas.openxmlformats.org/officeDocument/2006/relationships/officeDocument" Target="/ppt/presentation.xml" Id="Rb3519b51623d4420" /></Relationships>
</file>

<file path=ppt/presentation.xml><?xml version="1.0" encoding="utf-8"?>
<p:presentation xmlns:p="http://schemas.openxmlformats.org/presentationml/2006/main">
  <p:sldMasterIdLst>
    <p:sldMasterId xmlns:r="http://schemas.openxmlformats.org/officeDocument/2006/relationships" id="2147483648" r:id="R45da0f8f4f2b4e31"/>
  </p:sldMasterIdLst>
  <p:notesMasterIdLst>
    <p:notesMasterId xmlns:r="http://schemas.openxmlformats.org/officeDocument/2006/relationships" r:id="R4881c5641dad4988"/>
  </p:notesMasterIdLst>
  <p:sldIdLst>
    <p:sldId xmlns:r="http://schemas.openxmlformats.org/officeDocument/2006/relationships" id="256" r:id="Reb4dc255d39c4ab9"/>
    <p:sldId xmlns:r="http://schemas.openxmlformats.org/officeDocument/2006/relationships" id="257" r:id="Ra425613452964c57"/>
    <p:sldId xmlns:r="http://schemas.openxmlformats.org/officeDocument/2006/relationships" id="258" r:id="R8baaa29f95c54860"/>
    <p:sldId xmlns:r="http://schemas.openxmlformats.org/officeDocument/2006/relationships" id="259" r:id="R5932d6f5efe74b85"/>
    <p:sldId xmlns:r="http://schemas.openxmlformats.org/officeDocument/2006/relationships" id="260" r:id="R3e3d4351ef044080"/>
    <p:sldId xmlns:r="http://schemas.openxmlformats.org/officeDocument/2006/relationships" id="261" r:id="Rf77b6dca093b4244"/>
    <p:sldId xmlns:r="http://schemas.openxmlformats.org/officeDocument/2006/relationships" id="262" r:id="R09925a8a26ea41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4d410359104fec" /><Relationship Type="http://schemas.openxmlformats.org/officeDocument/2006/relationships/slideMaster" Target="/ppt/slideMasters/slideMaster1.xml" Id="R45da0f8f4f2b4e31" /><Relationship Type="http://schemas.openxmlformats.org/officeDocument/2006/relationships/notesMaster" Target="/ppt/notesMasters/notesMaster1.xml" Id="R4881c5641dad4988" /><Relationship Type="http://schemas.openxmlformats.org/officeDocument/2006/relationships/presProps" Target="/ppt/presProps.xml" Id="Ra27e78cfb287412e" /><Relationship Type="http://schemas.openxmlformats.org/officeDocument/2006/relationships/tableStyles" Target="/ppt/tableStyles.xml" Id="Rc6fd192822cb4dc6" /><Relationship Type="http://schemas.openxmlformats.org/officeDocument/2006/relationships/slide" Target="/ppt/slides/slide1.xml" Id="Reb4dc255d39c4ab9" /><Relationship Type="http://schemas.openxmlformats.org/officeDocument/2006/relationships/slide" Target="/ppt/slides/slide2.xml" Id="Ra425613452964c57" /><Relationship Type="http://schemas.openxmlformats.org/officeDocument/2006/relationships/slide" Target="/ppt/slides/slide3.xml" Id="R8baaa29f95c54860" /><Relationship Type="http://schemas.openxmlformats.org/officeDocument/2006/relationships/slide" Target="/ppt/slides/slide4.xml" Id="R5932d6f5efe74b85" /><Relationship Type="http://schemas.openxmlformats.org/officeDocument/2006/relationships/slide" Target="/ppt/slides/slide5.xml" Id="R3e3d4351ef044080" /><Relationship Type="http://schemas.openxmlformats.org/officeDocument/2006/relationships/slide" Target="/ppt/slides/slide6.xml" Id="Rf77b6dca093b4244" /><Relationship Type="http://schemas.openxmlformats.org/officeDocument/2006/relationships/slide" Target="/ppt/slides/slide7.xml" Id="R09925a8a26ea41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87824235de42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2239365e204b18" /><Relationship Type="http://schemas.openxmlformats.org/officeDocument/2006/relationships/notesMaster" Target="/ppt/notesMasters/notesMaster1.xml" Id="Rc13ac5e00cfd4b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d506c9eb024708" /><Relationship Type="http://schemas.openxmlformats.org/officeDocument/2006/relationships/notesMaster" Target="/ppt/notesMasters/notesMaster1.xml" Id="R650b50b6915d4e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a2aa46d0064adc" /><Relationship Type="http://schemas.openxmlformats.org/officeDocument/2006/relationships/notesMaster" Target="/ppt/notesMasters/notesMaster1.xml" Id="R9ac110f8fc5648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b4412503c34cc5" /><Relationship Type="http://schemas.openxmlformats.org/officeDocument/2006/relationships/notesMaster" Target="/ppt/notesMasters/notesMaster1.xml" Id="R813230daa23e45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1e3550afee4636" /><Relationship Type="http://schemas.openxmlformats.org/officeDocument/2006/relationships/notesMaster" Target="/ppt/notesMasters/notesMaster1.xml" Id="R3f31b5c968d447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6a54c683f945ff" /><Relationship Type="http://schemas.openxmlformats.org/officeDocument/2006/relationships/notesMaster" Target="/ppt/notesMasters/notesMaster1.xml" Id="R086c6414a95647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302f8a42964b97" /><Relationship Type="http://schemas.openxmlformats.org/officeDocument/2006/relationships/notesMaster" Target="/ppt/notesMasters/notesMaster1.xml" Id="R6624fcb01f9141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belongs to Media and Entertainment. We ask whether a movie platform can predict a returning user's preferences more accurately. This October seventh version starts with the method taught in class and adds timestamp features. The immediate task is predicting a one-to-five star rating. Recommendation quality and business impact still need separate tests.</a:t>
            </a:r>
          </a:p>
          <a:p xmlns:a="http://schemas.openxmlformats.org/drawingml/2006/main">
            <a:r>
              <a:t/>
            </a:r>
          </a:p>
          <a:p xmlns:a="http://schemas.openxmlformats.org/drawingml/2006/main">
            <a:r>
              <a:t>中文讲解</a:t>
            </a:r>
          </a:p>
          <a:p xmlns:a="http://schemas.openxmlformats.org/drawingml/2006/main">
            <a:r>
              <a:t>行业是 Media &amp; Entertainment。10 月 7 日版本先复现老师的矩阵分解，再加入 metadata 和 timestamp。当前预测目标是 1 至 5 星评分，不再把 NextItNet 的下一物品 HR@10 当作这一版的结果。评分准确度、Top-N 推荐质量和商业收益是三个需要分别验证的问题。</a:t>
            </a:r>
          </a:p>
          <a:p xmlns:a="http://schemas.openxmlformats.org/drawingml/2006/main">
            <a:r>
              <a:t/>
            </a:r>
          </a:p>
          <a:p xmlns:a="http://schemas.openxmlformats.org/drawingml/2006/main">
            <a:r>
              <a:t>Planned time: 25 seconds</a:t>
            </a:r>
          </a:p>
          <a:p xmlns:a="http://schemas.openxmlformats.org/drawingml/2006/main">
            <a:r>
              <a:t/>
            </a:r>
          </a:p>
          <a:p xmlns:a="http://schemas.openxmlformats.org/drawingml/2006/main">
            <a:r>
              <a:t>Sources</a:t>
            </a:r>
          </a:p>
          <a:p xmlns:a="http://schemas.openxmlformats.org/drawingml/2006/main">
            <a:r>
              <a:t>GroupLens MovieLens 1M README; course_rebuild_20261007/Methods_and_findings_EN.md</a:t>
            </a:r>
          </a:p>
          <a:p xmlns:a="http://schemas.openxmlformats.org/drawingml/2006/main">
            <a:r>
              <a:t>Course page references use PDF positions. Exact Canvas file IDs/hashes: course_rebuild_20261007/sources/course_manifest.json.</a:t>
            </a:r>
          </a:p>
          <a:p xmlns:a="http://schemas.openxmlformats.org/drawingml/2006/main">
            <a:r>
              <a:t>MovieLens: https://grouplens.org/datasets/movielens/1m/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MovieLens contains about one million ratings from six thousand users. We checked the source tables, IDs and rating values, and kept missing user-movie pairs unobserved. Timing is useful but easy to misread. Fifty-three percent of adjacent ratings share the same second, and almost eighty-nine percent arrive within a minute. These timestamps describe when someone entered ratings. They cannot establish the order in which that person watched the movies.</a:t>
            </a:r>
          </a:p>
          <a:p xmlns:a="http://schemas.openxmlformats.org/drawingml/2006/main">
            <a:r>
              <a:t/>
            </a:r>
          </a:p>
          <a:p xmlns:a="http://schemas.openxmlformats.org/drawingml/2006/main">
            <a:r>
              <a:t>中文讲解</a:t>
            </a:r>
          </a:p>
          <a:p xmlns:a="http://schemas.openxmlformats.org/drawingml/2006/main">
            <a:r>
              <a:t>MovieLens 1M 有 1,000,209 条评分、6,040 名用户、3,706 部实际被评分的电影，电影目录共有 3,883 部。未评分不等于不喜欢。994,169 对用户内相邻评分中，53.21% 同秒，88.72% 间隔不超过 60 秒，说明大量批量录入；timestamp 是评分录入时间，不是观看时间。95.74% 稀疏度以完整 3,883 部目录为分母。</a:t>
            </a:r>
          </a:p>
          <a:p xmlns:a="http://schemas.openxmlformats.org/drawingml/2006/main">
            <a:r>
              <a:t/>
            </a:r>
          </a:p>
          <a:p xmlns:a="http://schemas.openxmlformats.org/drawingml/2006/main">
            <a:r>
              <a:t>Planned time: 35 seconds</a:t>
            </a:r>
          </a:p>
          <a:p xmlns:a="http://schemas.openxmlformats.org/drawingml/2006/main">
            <a:r>
              <a:t/>
            </a:r>
          </a:p>
          <a:p xmlns:a="http://schemas.openxmlformats.org/drawingml/2006/main">
            <a:r>
              <a:t>Sources</a:t>
            </a:r>
          </a:p>
          <a:p xmlns:a="http://schemas.openxmlformats.org/drawingml/2006/main">
            <a:r>
              <a:t>course_rebuild_20261007/results/preparation.json; results/timestamp_eda.json</a:t>
            </a:r>
          </a:p>
          <a:p xmlns:a="http://schemas.openxmlformats.org/drawingml/2006/main">
            <a:r>
              <a:t>GroupLens MovieLens 1M README</a:t>
            </a:r>
          </a:p>
          <a:p xmlns:a="http://schemas.openxmlformats.org/drawingml/2006/main">
            <a:r>
              <a:t>Course page references use PDF positions. Exact Canvas file IDs/hashes: course_rebuild_20261007/sources/course_manifest.json.</a:t>
            </a:r>
          </a:p>
          <a:p xmlns:a="http://schemas.openxmlformats.org/drawingml/2006/main">
            <a:r>
              <a:t>MovieLens: https://grouplens.org/datasets/movielens/1m/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instructor uses softImpute matrix factorization to predict missing ratings. We reproduced the exact random split and all twenty cross-validation folds, using the classroom NumPy seed of one forty-four. Rescoring the instructor's cache selects rank eight. Four hundred fresh R fits select rank nine, with rank eight close behind. We retain rank eight for the classroom comparison and report the fresh choice separately. Its test RMSE is point nine one nine eight, close to the instructor's point nine one nine. R initialization and package differences prevent a claim of identical numerical results.</a:t>
            </a:r>
          </a:p>
          <a:p xmlns:a="http://schemas.openxmlformats.org/drawingml/2006/main">
            <a:r>
              <a:t/>
            </a:r>
          </a:p>
          <a:p xmlns:a="http://schemas.openxmlformats.org/drawingml/2006/main">
            <a:r>
              <a:t>中文讲解</a:t>
            </a:r>
          </a:p>
          <a:p xmlns:a="http://schemas.openxmlformats.org/drawingml/2006/main">
            <a:r>
              <a:t>复现的是 ColFil_dist.ipynb 的 softImpute：NumPy seed=144、990,206 条训练、10,003 条测试、20-fold CV，rank=1 至 20。老师缓存重新评分选 rank 8。400 次全新 R 拟合选 rank 9，CV RMSE=0.918274；rank 8 为 0.918956。为忠实课堂对比，主表沿用 rank 8，fresh-selected refit 另存。老师没有记录 R seed/版本；本次 R 4.0.2、softImpute 1.4-1，因此是流程复现，不能声称数值完全一致。表内 OSR² 以训练均值作为基准预测。</a:t>
            </a:r>
          </a:p>
          <a:p xmlns:a="http://schemas.openxmlformats.org/drawingml/2006/main">
            <a:r>
              <a:t/>
            </a:r>
          </a:p>
          <a:p xmlns:a="http://schemas.openxmlformats.org/drawingml/2006/main">
            <a:r>
              <a:t>Planned time: 50 seconds</a:t>
            </a:r>
          </a:p>
          <a:p xmlns:a="http://schemas.openxmlformats.org/drawingml/2006/main">
            <a:r>
              <a:t/>
            </a:r>
          </a:p>
          <a:p xmlns:a="http://schemas.openxmlformats.org/drawingml/2006/main">
            <a:r>
              <a:t>Sources</a:t>
            </a:r>
          </a:p>
          <a:p xmlns:a="http://schemas.openxmlformats.org/drawingml/2006/main">
            <a:r>
              <a:t>Decision 618 Lecture 7, PDF pp.45, 47, 52, 55-59; ColFil_dist.ipynb cells 5-15 and 17-23 (zero-based)</a:t>
            </a:r>
          </a:p>
          <a:p xmlns:a="http://schemas.openxmlformats.org/drawingml/2006/main">
            <a:r>
              <a:t>course_rebuild_20261007/results/cache_audit.json; fresh_cv_metrics.csv; teacher_rank8_fit.csv</a:t>
            </a:r>
          </a:p>
          <a:p xmlns:a="http://schemas.openxmlformats.org/drawingml/2006/main">
            <a:r>
              <a:t>Course page references use PDF positions. Exact Canvas file IDs/hashes: course_rebuild_20261007/sources/course_manifest.json.</a:t>
            </a:r>
          </a:p>
          <a:p xmlns:a="http://schemas.openxmlformats.org/drawingml/2006/main">
            <a:r>
              <a:t>MovieLens: https://grouplens.org/datasets/movielens/1m/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split follows the question. The course's ninety-nine-to-one random split tests whether we can fill missing ratings. To test future ratings, we added a global chronological split of roughly eighty, ten and ten percent, keeping equal timestamps together. Validation chooses parameters, and the final fit uses training plus validation before the untouched test period. The ensemble learns from out-of-fold predictions. History features use only earlier fitted entries. Every comparison within a column uses the same holdout. The two columns cover different people and periods.</a:t>
            </a:r>
          </a:p>
          <a:p xmlns:a="http://schemas.openxmlformats.org/drawingml/2006/main">
            <a:r>
              <a:t/>
            </a:r>
          </a:p>
          <a:p xmlns:a="http://schemas.openxmlformats.org/drawingml/2006/main">
            <a:r>
              <a:t>中文讲解</a:t>
            </a:r>
          </a:p>
          <a:p xmlns:a="http://schemas.openxmlformats.org/drawingml/2006/main">
            <a:r>
              <a:t>Lecture 2 区分无时间依赖的随机分割与预测未来的按时间分割。保留老师的 99/1 随机评分补全；另做全局 80/10/10 时间分割，行数为 800,164 / 100,024 / 100,021，同秒评分不跨边界。参数只在训练/CV/验证选择，最终以 900,188 条 train+validation 重拟合，测试标签不参与。时间 ensemble 用 expanding-time out-of-fold CF 预测，不能用训练内拟合值替代；history 只取冻结的 fit history，query 之后及同秒事件排除。两列目标相同但人群、时间窗、参数选择不同。</a:t>
            </a:r>
          </a:p>
          <a:p xmlns:a="http://schemas.openxmlformats.org/drawingml/2006/main">
            <a:r>
              <a:t/>
            </a:r>
          </a:p>
          <a:p xmlns:a="http://schemas.openxmlformats.org/drawingml/2006/main">
            <a:r>
              <a:t>Planned time: 45 seconds</a:t>
            </a:r>
          </a:p>
          <a:p xmlns:a="http://schemas.openxmlformats.org/drawingml/2006/main">
            <a:r>
              <a:t/>
            </a:r>
          </a:p>
          <a:p xmlns:a="http://schemas.openxmlformats.org/drawingml/2006/main">
            <a:r>
              <a:t>Sources</a:t>
            </a:r>
          </a:p>
          <a:p xmlns:a="http://schemas.openxmlformats.org/drawingml/2006/main">
            <a:r>
              <a:t>Decision 618 Lecture 2, PDF pp.65, 87-89; Lecture 7, PDF p.45</a:t>
            </a:r>
          </a:p>
          <a:p xmlns:a="http://schemas.openxmlformats.org/drawingml/2006/main">
            <a:r>
              <a:t>course_rebuild_20261007/results/temporal_split.json; timestamp_experiment.json; analysis_audit.json</a:t>
            </a:r>
          </a:p>
          <a:p xmlns:a="http://schemas.openxmlformats.org/drawingml/2006/main">
            <a:r>
              <a:t>Course page references use PDF positions. Exact Canvas file IDs/hashes: course_rebuild_20261007/sources/course_manifest.json.</a:t>
            </a:r>
          </a:p>
          <a:p xmlns:a="http://schemas.openxmlformats.org/drawingml/2006/main">
            <a:r>
              <a:t>MovieLens: https://grouplens.org/datasets/movielens/1m/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Ridge combines CF predictions with movie and user metadata. We compare it with and without time features. Lower RMSE means smaller star-rating errors. On the random test, collaborative filtering scores point nine one nine eight. Metadata lowers that to point eight nine nine zero, and timestamp features lower it again to point eight nine four zero. On the future test, the timestamp ensemble scores one point zero zero zero one, compared with one point zero three zero three for the static ensemble. The controlled timestamp increments are about point zero zero five and point zero three zero two rating points. The future collaborative-filtering model performs worse than the training mean. We kept that result because it matters. These comparisons support the timestamp ensemble on these holdouts. They do not prove better viewing engagement.</a:t>
            </a:r>
          </a:p>
          <a:p xmlns:a="http://schemas.openxmlformats.org/drawingml/2006/main">
            <a:r>
              <a:t/>
            </a:r>
          </a:p>
          <a:p xmlns:a="http://schemas.openxmlformats.org/drawingml/2006/main">
            <a:r>
              <a:t>中文讲解</a:t>
            </a:r>
          </a:p>
          <a:p xmlns:a="http://schemas.openxmlformats.org/drawingml/2006/main">
            <a:r>
              <a:t>Ridge ensemble 将 CF 预测与电影类型、上映年份和用户人口统计类别组合；timestamp 版再加入时间特征，正则化参数 alpha 只在验证中选择。结果来自 model_metrics.csv 的 scope=all，包含冷启动行。Random RMSE：训练均值 1.1237、CF 0.9198、CF+metadata 0.8990、CF+metadata+timestamp 0.8940。Future RMSE：1.0893、1.2246、1.0303、1.0001。timestamp 的增量须与同一列静态 ensemble 相减，得到 0.005022 与 0.030223，不是百分点，也不是点击率。Future CF 1.2246 比均值 1.0893 更差，已独立核对因子点积、行号及 fallback 后保留。不能用两列差异断言全部是时间带来的损失。</a:t>
            </a:r>
          </a:p>
          <a:p xmlns:a="http://schemas.openxmlformats.org/drawingml/2006/main">
            <a:r>
              <a:t/>
            </a:r>
          </a:p>
          <a:p xmlns:a="http://schemas.openxmlformats.org/drawingml/2006/main">
            <a:r>
              <a:t>Planned time: 65 seconds</a:t>
            </a:r>
          </a:p>
          <a:p xmlns:a="http://schemas.openxmlformats.org/drawingml/2006/main">
            <a:r>
              <a:t/>
            </a:r>
          </a:p>
          <a:p xmlns:a="http://schemas.openxmlformats.org/drawingml/2006/main">
            <a:r>
              <a:t>Sources</a:t>
            </a:r>
          </a:p>
          <a:p xmlns:a="http://schemas.openxmlformats.org/drawingml/2006/main">
            <a:r>
              <a:t>course_rebuild_20261007/results/model_metrics.csv (scope=all); timestamp_experiment.json</a:t>
            </a:r>
          </a:p>
          <a:p xmlns:a="http://schemas.openxmlformats.org/drawingml/2006/main">
            <a:r>
              <a:t>course_rebuild_20261007/results/independent_r_audit.csv; analysis_audit.json</a:t>
            </a:r>
          </a:p>
          <a:p xmlns:a="http://schemas.openxmlformats.org/drawingml/2006/main">
            <a:r>
              <a:t>Course page references use PDF positions. Exact Canvas file IDs/hashes: course_rebuild_20261007/sources/course_manifest.json.</a:t>
            </a:r>
          </a:p>
          <a:p xmlns:a="http://schemas.openxmlformats.org/drawingml/2006/main">
            <a:r>
              <a:t>MovieLens: https://grouplens.org/datasets/movielens/1m/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course already discusses date and time. We test their incremental value alongside counts and gaps from strictly earlier ratings. Equal-second entries contribute no prior history. User-level paired bootstrap intervals remain above zero for both timestamp increments. Those intervals are conditional on this split and selection procedure. A limitation appears in the future evaluation: only twenty-four percent of validation ratings are warm, compared with ninety-six percent in the final test. The validation choice therefore transfers between very different cohorts. We need repeated time windows before treating this as a stable deployment result.</a:t>
            </a:r>
          </a:p>
          <a:p xmlns:a="http://schemas.openxmlformats.org/drawingml/2006/main">
            <a:r>
              <a:t/>
            </a:r>
          </a:p>
          <a:p xmlns:a="http://schemas.openxmlformats.org/drawingml/2006/main">
            <a:r>
              <a:t>中文讲解</a:t>
            </a:r>
          </a:p>
          <a:p xmlns:a="http://schemas.openxmlformats.org/drawingml/2006/main">
            <a:r>
              <a:t>老师 Lecture 7 的 ensemble 已涉及日期和时间；本次贡献是可复现的组合模型、timestamp 增量比较与全局时间评估。Calendar 采用 UTC，用户本地时区未知。时间特征包括 UTC 日历、elapsed days、严格早于 query 的历史计数和间隔；同秒排除，漂移变量限制在 meta-fit 范围内。2,000 次按用户配对 bootstrap，统计量是 event-weighted RMSE：Random 增量 95% CI=[0.0031,0.0069]，Future=[0.0111,0.0504]。它们只反映固定分割、既定选模过程下的不确定性，不能当作因果效应。Warm 定义为用户及电影都在当时的 fit 数据中出现：validation warm=23.84%，test warm=95.70%，且 test fit 已加入 validation。这个人群变化限制参数迁移，需重复时间窗验证。</a:t>
            </a:r>
          </a:p>
          <a:p xmlns:a="http://schemas.openxmlformats.org/drawingml/2006/main">
            <a:r>
              <a:t/>
            </a:r>
          </a:p>
          <a:p xmlns:a="http://schemas.openxmlformats.org/drawingml/2006/main">
            <a:r>
              <a:t>Planned time: 45 seconds</a:t>
            </a:r>
          </a:p>
          <a:p xmlns:a="http://schemas.openxmlformats.org/drawingml/2006/main">
            <a:r>
              <a:t/>
            </a:r>
          </a:p>
          <a:p xmlns:a="http://schemas.openxmlformats.org/drawingml/2006/main">
            <a:r>
              <a:t>Sources</a:t>
            </a:r>
          </a:p>
          <a:p xmlns:a="http://schemas.openxmlformats.org/drawingml/2006/main">
            <a:r>
              <a:t>course_rebuild_20261007/results/timestamp_experiment.json; temporal_population.csv</a:t>
            </a:r>
          </a:p>
          <a:p xmlns:a="http://schemas.openxmlformats.org/drawingml/2006/main">
            <a:r>
              <a:t>Decision 618 Lecture 7, PDF pp.55-59; course_rebuild_20261007/code/evaluate_timestamp.py</a:t>
            </a:r>
          </a:p>
          <a:p xmlns:a="http://schemas.openxmlformats.org/drawingml/2006/main">
            <a:r>
              <a:t>Course page references use PDF positions. Exact Canvas file IDs/hashes: course_rebuild_20261007/sources/course_manifest.json.</a:t>
            </a:r>
          </a:p>
          <a:p xmlns:a="http://schemas.openxmlformats.org/drawingml/2006/main">
            <a:r>
              <a:t>MovieLens: https://grouplens.org/datasets/movielens/1m/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to evaluate Top-N ranking and cold users across additional time windows. If those checks hold, a limited randomized pilot could test recommendation-led movie starts per exposed user, with completion, catalog concentration and latency as guardrails. That is a proposed business test. MovieLens has no exposure logs, revenues or operating costs, so we cannot calculate ROI from these ratings. The current evidence supports further offline testing of the timestamp ensemble.</a:t>
            </a:r>
          </a:p>
          <a:p xmlns:a="http://schemas.openxmlformats.org/drawingml/2006/main">
            <a:r>
              <a:t/>
            </a:r>
          </a:p>
          <a:p xmlns:a="http://schemas.openxmlformats.org/drawingml/2006/main">
            <a:r>
              <a:t>中文讲解</a:t>
            </a:r>
          </a:p>
          <a:p xmlns:a="http://schemas.openxmlformats.org/drawingml/2006/main">
            <a:r>
              <a:t>下一步先增加多个全局时间窗、Top-N 推荐指标和冷启动评估，再考虑有限随机对照试验。商业指标可设为每名曝光用户由推荐带来的开播次数，配套完播、目录集中度、延迟及隐私保护。这些是待执行方案，不是已取得的商业效果。MovieLens 没有曝光、收入、运营成本，不能计算或编造 ROI，也不能从较低 RMSE 推出更高留存。</a:t>
            </a:r>
          </a:p>
          <a:p xmlns:a="http://schemas.openxmlformats.org/drawingml/2006/main">
            <a:r>
              <a:t/>
            </a:r>
          </a:p>
          <a:p xmlns:a="http://schemas.openxmlformats.org/drawingml/2006/main">
            <a:r>
              <a:t>Planned time: 35 seconds</a:t>
            </a:r>
          </a:p>
          <a:p xmlns:a="http://schemas.openxmlformats.org/drawingml/2006/main">
            <a:r>
              <a:t/>
            </a:r>
          </a:p>
          <a:p xmlns:a="http://schemas.openxmlformats.org/drawingml/2006/main">
            <a:r>
              <a:t>Sources</a:t>
            </a:r>
          </a:p>
          <a:p xmlns:a="http://schemas.openxmlformats.org/drawingml/2006/main">
            <a:r>
              <a:t>course_rebuild_20261007/Methods_and_findings_EN.md; GroupLens MovieLens 1M README</a:t>
            </a:r>
          </a:p>
          <a:p xmlns:a="http://schemas.openxmlformats.org/drawingml/2006/main">
            <a:r>
              <a:t>Business pilot and guardrails are proposed, not measured outcomes</a:t>
            </a:r>
          </a:p>
          <a:p xmlns:a="http://schemas.openxmlformats.org/drawingml/2006/main">
            <a:r>
              <a:t>Course page references use PDF positions. Exact Canvas file IDs/hashes: course_rebuild_20261007/sources/course_manifest.json.</a:t>
            </a:r>
          </a:p>
          <a:p xmlns:a="http://schemas.openxmlformats.org/drawingml/2006/main">
            <a:r>
              <a:t>MovieLens: https://grouplens.org/datasets/movielens/1m/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10219fc06f47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a850f8e22244c7" /><Relationship Type="http://schemas.openxmlformats.org/officeDocument/2006/relationships/slideLayout" Target="/ppt/slideLayouts/slideLayout1.xml" Id="Rcbeb567672b246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eb567672b246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c535e3d79047cc" /><Relationship Type="http://schemas.openxmlformats.org/officeDocument/2006/relationships/notesSlide" Target="/ppt/notesSlides/notesSlide1.xml" Id="R59b13d80824143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3397fb798547d7" /><Relationship Type="http://schemas.openxmlformats.org/officeDocument/2006/relationships/chart" Target="/ppt/slides/charts/chart1.xml" Id="Rdf75b2eac2a245be" /><Relationship Type="http://schemas.openxmlformats.org/officeDocument/2006/relationships/notesSlide" Target="/ppt/notesSlides/notesSlide2.xml" Id="R05a21768ccb742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0514dad501b4bbe" /><Relationship Type="http://schemas.openxmlformats.org/officeDocument/2006/relationships/notesSlide" Target="/ppt/notesSlides/notesSlide3.xml" Id="R7cada932b19e4b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e16b9bf4a0f4f49" /><Relationship Type="http://schemas.openxmlformats.org/officeDocument/2006/relationships/notesSlide" Target="/ppt/notesSlides/notesSlide4.xml" Id="Rcec95899243841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49b10a26444f91" /><Relationship Type="http://schemas.openxmlformats.org/officeDocument/2006/relationships/notesSlide" Target="/ppt/notesSlides/notesSlide5.xml" Id="R40b0fd9b9ae74d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d347f69a6242a4" /><Relationship Type="http://schemas.openxmlformats.org/officeDocument/2006/relationships/notesSlide" Target="/ppt/notesSlides/notesSlide6.xml" Id="R40f5a8c731f343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38d35cb000c478a" /><Relationship Type="http://schemas.openxmlformats.org/officeDocument/2006/relationships/notesSlide" Target="/ppt/notesSlides/notesSlide7.xml" Id="Rfbe4542d32d249d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Rate</c:v>
          </c:tx>
          <c:spPr>
            <a:solidFill xmlns:a="http://schemas.openxmlformats.org/drawingml/2006/main">
              <a:srgbClr val="E46242"/>
            </a:solidFill>
          </c:spPr>
          <c:cat>
            <c:strRef>
              <c:f>'Chart Data'!$A$2:$A$4</c:f>
              <c:strCache>
                <c:ptCount val="3"/>
                <c:pt idx="0">
                  <c:v>Same timestamp</c:v>
                </c:pt>
                <c:pt idx="1">
                  <c:v>1 to 60 seconds</c:v>
                </c:pt>
                <c:pt idx="2">
                  <c:v>More than 60 seconds</c:v>
                </c:pt>
              </c:strCache>
            </c:strRef>
          </c:cat>
          <c:val>
            <c:numRef>
              <c:f>'Chart Data'!$B$2:$B$4</c:f>
              <c:numCache>
                <c:formatCode>0.0%</c:formatCode>
                <c:ptCount val="3"/>
                <c:pt idx="0">
                  <c:v>0.53214896</c:v>
                </c:pt>
                <c:pt idx="1">
                  <c:v>0.35500705</c:v>
                </c:pt>
                <c:pt idx="2">
                  <c:v>0.11284399</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24231E"/>
                  </a:solidFill>
                  <a:latin typeface="DM Sans"/>
                  <a:ea typeface="DM Sans"/>
                  <a:cs typeface="DM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656258"/>
            </a:solidFill>
          </a:ln>
        </c:spPr>
        <c:txPr>
          <a:bodyPr xmlns:a="http://schemas.openxmlformats.org/drawingml/2006/main" anchorCtr="1"/>
          <a:lstStyle xmlns:a="http://schemas.openxmlformats.org/drawingml/2006/main"/>
          <a:p xmlns:a="http://schemas.openxmlformats.org/drawingml/2006/main">
            <a:pPr>
              <a:defRPr sz="1575">
                <a:solidFill>
                  <a:srgbClr val="24231E"/>
                </a:solidFill>
                <a:latin typeface="DM Sans"/>
                <a:ea typeface="DM Sans"/>
                <a:cs typeface="DM Sans"/>
              </a:defRPr>
            </a:pPr>
          </a:p>
        </c:txPr>
        <c:crossAx val="48672768"/>
      </c:catAx>
      <c:valAx>
        <c:axId val="48672768"/>
        <c:scaling>
          <c:orientation val="minMax"/>
          <c:max val="0.65"/>
          <c:min val="0"/>
        </c:scaling>
        <c:delete val="0"/>
        <c:axPos val="b"/>
        <c:majorGridlines>
          <c:spPr>
            <a:ln xmlns:a="http://schemas.openxmlformats.org/drawingml/2006/main" w="4763">
              <a:solidFill>
                <a:srgbClr val="DFD5C3"/>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56258"/>
                </a:solidFill>
                <a:latin typeface="DM Sans"/>
                <a:ea typeface="DM Sans"/>
                <a:cs typeface="DM Sans"/>
              </a:defRPr>
            </a:pPr>
          </a:p>
        </c:txPr>
        <c:crossAx val="48650112"/>
        <c:crossBetween val="between"/>
      </c:valAx>
      <c:spPr>
        <a:solidFill xmlns:a="http://schemas.openxmlformats.org/drawingml/2006/main">
          <a:srgbClr val="F1E8D5"/>
        </a:solidFill>
      </c:spPr>
    </c:plotArea>
    <c:plotVisOnly val="1"/>
  </c:chart>
  <c:spPr>
    <a:solidFill xmlns:a="http://schemas.openxmlformats.org/drawingml/2006/main">
      <a:srgbClr val="F1E8D5"/>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171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F6DDA10-7EDA-498F-824E-384AE80A78B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4624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DC1243-1682-45FF-8684-A08D76131FA6}"/>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DB8AD"/>
                </a:solidFill>
                <a:latin typeface="DM Sans"/>
                <a:ea typeface="DM Sans"/>
                <a:cs typeface="DM Sans"/>
              </a:defRPr>
            </a:pPr>
            <a:r>
              <a:rPr sz="1350" b="0">
                <a:solidFill>
                  <a:srgbClr val="BDB8AD"/>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27EC55B6-73BB-4C3F-B11C-2267BCF57BAB}"/>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DB8AD"/>
                </a:solidFill>
                <a:latin typeface="DM Sans"/>
                <a:ea typeface="DM Sans"/>
                <a:cs typeface="DM Sans"/>
              </a:defRPr>
            </a:pPr>
            <a:r>
              <a:rPr sz="1275" b="0">
                <a:solidFill>
                  <a:srgbClr val="BDB8AD"/>
                </a:solidFill>
                <a:latin typeface="DM Sans"/>
                <a:ea typeface="DM Sans"/>
                <a:cs typeface="DM Sans"/>
              </a:rPr>
              <a:t>BUSINESS PROBLEM</a:t>
            </a:r>
          </a:p>
        </p:txBody>
      </p:sp>
      <p:sp>
        <p:nvSpPr>
          <p:cNvPr id="4" name="">
            <a:extLst xmlns:a="http://schemas.openxmlformats.org/drawingml/2006/main">
              <a:ext uri="{FF2B5EF4-FFF2-40B4-BE49-F238E27FC236}">
                <a16:creationId xmlns:a16="http://schemas.microsoft.com/office/drawing/2014/main" id="{EB663CE6-B799-4752-AB88-47307A918CA7}"/>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5551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F93B6E2-AA63-4EF7-AD51-99395A7292FF}"/>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DB8AD"/>
                </a:solidFill>
                <a:latin typeface="DM Sans"/>
                <a:ea typeface="DM Sans"/>
                <a:cs typeface="DM Sans"/>
              </a:defRPr>
            </a:pPr>
            <a:r>
              <a:rPr sz="1275" b="0">
                <a:solidFill>
                  <a:srgbClr val="BDB8AD"/>
                </a:solidFill>
                <a:latin typeface="DM Sans"/>
                <a:ea typeface="DM Sans"/>
                <a:cs typeface="DM Sans"/>
              </a:rPr>
              <a:t>01</a:t>
            </a:r>
          </a:p>
        </p:txBody>
      </p:sp>
      <p:sp>
        <p:nvSpPr>
          <p:cNvPr id="6" name="">
            <a:extLst xmlns:a="http://schemas.openxmlformats.org/drawingml/2006/main">
              <a:ext uri="{FF2B5EF4-FFF2-40B4-BE49-F238E27FC236}">
                <a16:creationId xmlns:a16="http://schemas.microsoft.com/office/drawing/2014/main" id="{F63F51F5-6D81-4D61-9087-AC303A11B6E4}"/>
              </a:ext>
            </a:extLst>
          </p:cNvPr>
          <p:cNvSpPr>
            <a:spLocks xmlns:a="http://schemas.openxmlformats.org/drawingml/2006/main" noGrp="1"/>
          </p:cNvSpPr>
          <p:nvPr/>
        </p:nvSpPr>
        <p:spPr>
          <a:xfrm xmlns:a="http://schemas.openxmlformats.org/drawingml/2006/main">
            <a:off x="714375" y="1447800"/>
            <a:ext cx="10287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0" b="0">
                <a:solidFill>
                  <a:srgbClr val="F1E8D5"/>
                </a:solidFill>
                <a:latin typeface="Bebas Neue"/>
                <a:ea typeface="Bebas Neue"/>
                <a:cs typeface="Bebas Neue"/>
              </a:defRPr>
            </a:pPr>
            <a:r>
              <a:rPr sz="9750" b="0">
                <a:solidFill>
                  <a:srgbClr val="F1E8D5"/>
                </a:solidFill>
                <a:latin typeface="Bebas Neue"/>
                <a:ea typeface="Bebas Neue"/>
                <a:cs typeface="Bebas Neue"/>
              </a:rPr>
              <a:t>MOVIE RATING</a:t>
            </a:r>
          </a:p>
        </p:txBody>
      </p:sp>
      <p:sp>
        <p:nvSpPr>
          <p:cNvPr id="7" name="">
            <a:extLst xmlns:a="http://schemas.openxmlformats.org/drawingml/2006/main">
              <a:ext uri="{FF2B5EF4-FFF2-40B4-BE49-F238E27FC236}">
                <a16:creationId xmlns:a16="http://schemas.microsoft.com/office/drawing/2014/main" id="{071E41BC-6C28-4910-AFBB-5E990C28F699}"/>
              </a:ext>
            </a:extLst>
          </p:cNvPr>
          <p:cNvSpPr>
            <a:spLocks xmlns:a="http://schemas.openxmlformats.org/drawingml/2006/main" noGrp="1"/>
          </p:cNvSpPr>
          <p:nvPr/>
        </p:nvSpPr>
        <p:spPr>
          <a:xfrm xmlns:a="http://schemas.openxmlformats.org/drawingml/2006/main">
            <a:off x="714375" y="2981325"/>
            <a:ext cx="10382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0" b="0">
                <a:solidFill>
                  <a:srgbClr val="E46242"/>
                </a:solidFill>
                <a:latin typeface="Bebas Neue"/>
                <a:ea typeface="Bebas Neue"/>
                <a:cs typeface="Bebas Neue"/>
              </a:defRPr>
            </a:pPr>
            <a:r>
              <a:rPr sz="9750" b="0">
                <a:solidFill>
                  <a:srgbClr val="E46242"/>
                </a:solidFill>
                <a:latin typeface="Bebas Neue"/>
                <a:ea typeface="Bebas Neue"/>
                <a:cs typeface="Bebas Neue"/>
              </a:rPr>
              <a:t>PREDICTION</a:t>
            </a:r>
          </a:p>
        </p:txBody>
      </p:sp>
      <p:sp>
        <p:nvSpPr>
          <p:cNvPr id="8" name="">
            <a:extLst xmlns:a="http://schemas.openxmlformats.org/drawingml/2006/main">
              <a:ext uri="{FF2B5EF4-FFF2-40B4-BE49-F238E27FC236}">
                <a16:creationId xmlns:a16="http://schemas.microsoft.com/office/drawing/2014/main" id="{43DA4AD9-6240-4A8B-BFED-F9BC178B64D1}"/>
              </a:ext>
            </a:extLst>
          </p:cNvPr>
          <p:cNvSpPr>
            <a:spLocks xmlns:a="http://schemas.openxmlformats.org/drawingml/2006/main" noGrp="1"/>
          </p:cNvSpPr>
          <p:nvPr/>
        </p:nvSpPr>
        <p:spPr>
          <a:xfrm xmlns:a="http://schemas.openxmlformats.org/drawingml/2006/main">
            <a:off x="733425" y="4524375"/>
            <a:ext cx="10429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BDB8AD"/>
                </a:solidFill>
                <a:latin typeface="DM Sans"/>
                <a:ea typeface="DM Sans"/>
                <a:cs typeface="DM Sans"/>
              </a:defRPr>
            </a:pPr>
            <a:r>
              <a:rPr sz="2100" b="0">
                <a:solidFill>
                  <a:srgbClr val="BDB8AD"/>
                </a:solidFill>
                <a:latin typeface="DM Sans"/>
                <a:ea typeface="DM Sans"/>
                <a:cs typeface="DM Sans"/>
              </a:rPr>
              <a:t>Course replication and a timestamp extension</a:t>
            </a:r>
          </a:p>
        </p:txBody>
      </p:sp>
      <p:sp>
        <p:nvSpPr>
          <p:cNvPr id="9" name="">
            <a:extLst xmlns:a="http://schemas.openxmlformats.org/drawingml/2006/main">
              <a:ext uri="{FF2B5EF4-FFF2-40B4-BE49-F238E27FC236}">
                <a16:creationId xmlns:a16="http://schemas.microsoft.com/office/drawing/2014/main" id="{9CC866D4-A7F7-4324-ACD3-4C4FF9369D35}"/>
              </a:ext>
            </a:extLst>
          </p:cNvPr>
          <p:cNvSpPr>
            <a:spLocks xmlns:a="http://schemas.openxmlformats.org/drawingml/2006/main" noGrp="1"/>
          </p:cNvSpPr>
          <p:nvPr/>
        </p:nvSpPr>
        <p:spPr>
          <a:xfrm xmlns:a="http://schemas.openxmlformats.org/drawingml/2006/main">
            <a:off x="733425" y="587692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BDB8AD"/>
                </a:solidFill>
                <a:latin typeface="DM Sans"/>
                <a:ea typeface="DM Sans"/>
                <a:cs typeface="DM Sans"/>
              </a:defRPr>
            </a:pPr>
            <a:r>
              <a:rPr sz="1425" b="0">
                <a:solidFill>
                  <a:srgbClr val="BDB8AD"/>
                </a:solidFill>
                <a:latin typeface="DM Sans"/>
                <a:ea typeface="DM Sans"/>
                <a:cs typeface="DM Sans"/>
              </a:rPr>
              <a:t>Jiaming Cui, Joonse Lim, Tung Jerateepkulmeth</a:t>
            </a:r>
          </a:p>
        </p:txBody>
      </p:sp>
      <p:sp>
        <p:nvSpPr>
          <p:cNvPr id="11" name="">
            <a:extLst xmlns:a="http://schemas.openxmlformats.org/drawingml/2006/main">
              <a:ext uri="{FF2B5EF4-FFF2-40B4-BE49-F238E27FC236}">
                <a16:creationId xmlns:a16="http://schemas.microsoft.com/office/drawing/2014/main" id="{A3A6ADE7-02E9-4F98-903C-2A6D0B7E338B}"/>
              </a:ext>
            </a:extLst>
          </p:cNvPr>
          <p:cNvSpPr>
            <a:spLocks xmlns:a="http://schemas.openxmlformats.org/drawingml/2006/main" noGrp="1"/>
          </p:cNvSpPr>
          <p:nvPr/>
        </p:nvSpPr>
        <p:spPr>
          <a:xfrm xmlns:a="http://schemas.openxmlformats.org/drawingml/2006/main">
            <a:off x="733425" y="524827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DB8AD"/>
                </a:solidFill>
                <a:latin typeface="DM Sans"/>
                <a:ea typeface="DM Sans"/>
                <a:cs typeface="DM Sans"/>
              </a:defRPr>
            </a:pPr>
            <a:r>
              <a:rPr sz="1650" b="0">
                <a:solidFill>
                  <a:srgbClr val="BDB8AD"/>
                </a:solidFill>
                <a:latin typeface="DM Sans"/>
                <a:ea typeface="DM Sans"/>
                <a:cs typeface="DM Sans"/>
              </a:rPr>
              <a:t>MovieLens 1M / October 7, 2026</a:t>
            </a:r>
          </a:p>
        </p:txBody>
      </p:sp>
    </p:spTree>
    <p:extLst>
      <p:ext uri="{BB962C8B-B14F-4D97-AF65-F5344CB8AC3E}">
        <p14:creationId xmlns:p14="http://schemas.microsoft.com/office/powerpoint/2010/main" val="844129777"/>
      </p:ext>
    </p:extLst>
  </p:cSld>
</p:sld>
</file>

<file path=ppt/slides/slide2.xml><?xml version="1.0" encoding="utf-8"?>
<p:sld xmlns:p="http://schemas.openxmlformats.org/presentationml/2006/main">
  <p:cSld>
    <p:bg>
      <p:bgPr>
        <a:solidFill xmlns:a="http://schemas.openxmlformats.org/drawingml/2006/main">
          <a:srgbClr val="F1E8D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813D622-DC4A-4901-A7C3-04194D47CB0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BF492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444ED9-C6BB-4DD0-A4F8-3873C9FD6A39}"/>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56258"/>
                </a:solidFill>
                <a:latin typeface="DM Sans"/>
                <a:ea typeface="DM Sans"/>
                <a:cs typeface="DM Sans"/>
              </a:defRPr>
            </a:pPr>
            <a:r>
              <a:rPr sz="1350" b="0">
                <a:solidFill>
                  <a:srgbClr val="656258"/>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3E46D4F6-BFB9-4045-AD3D-CB289A478AF4}"/>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DATA UNDERSTANDING</a:t>
            </a:r>
          </a:p>
        </p:txBody>
      </p:sp>
      <p:sp>
        <p:nvSpPr>
          <p:cNvPr id="4" name="">
            <a:extLst xmlns:a="http://schemas.openxmlformats.org/drawingml/2006/main">
              <a:ext uri="{FF2B5EF4-FFF2-40B4-BE49-F238E27FC236}">
                <a16:creationId xmlns:a16="http://schemas.microsoft.com/office/drawing/2014/main" id="{F693E77C-44FD-4C05-B7BB-C8DD5C6C5B1F}"/>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D2C8B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EAA43B-2B70-4484-873C-7595A49FF2BF}"/>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100" b="0">
                <a:solidFill>
                  <a:srgbClr val="24231E"/>
                </a:solidFill>
                <a:latin typeface="Bebas Neue"/>
                <a:ea typeface="Bebas Neue"/>
                <a:cs typeface="Bebas Neue"/>
              </a:defRPr>
            </a:pPr>
            <a:r>
              <a:rPr sz="5100" b="0">
                <a:solidFill>
                  <a:srgbClr val="24231E"/>
                </a:solidFill>
                <a:latin typeface="Bebas Neue"/>
                <a:ea typeface="Bebas Neue"/>
                <a:cs typeface="Bebas Neue"/>
              </a:rPr>
              <a:t>MovieLens and rating activity</a:t>
            </a:r>
          </a:p>
        </p:txBody>
      </p:sp>
      <p:sp>
        <p:nvSpPr>
          <p:cNvPr id="6" name="">
            <a:extLst xmlns:a="http://schemas.openxmlformats.org/drawingml/2006/main">
              <a:ext uri="{FF2B5EF4-FFF2-40B4-BE49-F238E27FC236}">
                <a16:creationId xmlns:a16="http://schemas.microsoft.com/office/drawing/2014/main" id="{6790B2EA-31F9-4C0B-8B5F-8D0D99CB70A0}"/>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02</a:t>
            </a:r>
          </a:p>
        </p:txBody>
      </p:sp>
      <p:sp>
        <p:nvSpPr>
          <p:cNvPr id="7" name="">
            <a:extLst xmlns:a="http://schemas.openxmlformats.org/drawingml/2006/main">
              <a:ext uri="{FF2B5EF4-FFF2-40B4-BE49-F238E27FC236}">
                <a16:creationId xmlns:a16="http://schemas.microsoft.com/office/drawing/2014/main" id="{73121570-4120-425C-AF21-A0EB21D2C157}"/>
              </a:ext>
            </a:extLst>
          </p:cNvPr>
          <p:cNvSpPr>
            <a:spLocks xmlns:a="http://schemas.openxmlformats.org/drawingml/2006/main" noGrp="1"/>
          </p:cNvSpPr>
          <p:nvPr/>
        </p:nvSpPr>
        <p:spPr>
          <a:xfrm xmlns:a="http://schemas.openxmlformats.org/drawingml/2006/main">
            <a:off x="714375" y="2266950"/>
            <a:ext cx="4191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650" b="0">
                <a:solidFill>
                  <a:srgbClr val="E46242"/>
                </a:solidFill>
                <a:latin typeface="Bebas Neue"/>
                <a:ea typeface="Bebas Neue"/>
                <a:cs typeface="Bebas Neue"/>
              </a:defRPr>
            </a:pPr>
            <a:r>
              <a:rPr sz="7650" b="0">
                <a:solidFill>
                  <a:srgbClr val="E46242"/>
                </a:solidFill>
                <a:latin typeface="Bebas Neue"/>
                <a:ea typeface="Bebas Neue"/>
                <a:cs typeface="Bebas Neue"/>
              </a:rPr>
              <a:t>1,000,209</a:t>
            </a:r>
          </a:p>
        </p:txBody>
      </p:sp>
      <p:sp>
        <p:nvSpPr>
          <p:cNvPr id="8" name="">
            <a:extLst xmlns:a="http://schemas.openxmlformats.org/drawingml/2006/main">
              <a:ext uri="{FF2B5EF4-FFF2-40B4-BE49-F238E27FC236}">
                <a16:creationId xmlns:a16="http://schemas.microsoft.com/office/drawing/2014/main" id="{81C0AC1B-EA8F-45AD-992B-CD82FF7351EF}"/>
              </a:ext>
            </a:extLst>
          </p:cNvPr>
          <p:cNvSpPr>
            <a:spLocks xmlns:a="http://schemas.openxmlformats.org/drawingml/2006/main" noGrp="1"/>
          </p:cNvSpPr>
          <p:nvPr/>
        </p:nvSpPr>
        <p:spPr>
          <a:xfrm xmlns:a="http://schemas.openxmlformats.org/drawingml/2006/main">
            <a:off x="714375" y="33813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56258"/>
                </a:solidFill>
                <a:latin typeface="DM Sans"/>
                <a:ea typeface="DM Sans"/>
                <a:cs typeface="DM Sans"/>
              </a:defRPr>
            </a:pPr>
            <a:r>
              <a:rPr sz="1800" b="0">
                <a:solidFill>
                  <a:srgbClr val="656258"/>
                </a:solidFill>
                <a:latin typeface="DM Sans"/>
                <a:ea typeface="DM Sans"/>
                <a:cs typeface="DM Sans"/>
              </a:rPr>
              <a:t>ratings from 6,040 users</a:t>
            </a:r>
          </a:p>
        </p:txBody>
      </p:sp>
      <p:sp>
        <p:nvSpPr>
          <p:cNvPr id="9" name="">
            <a:extLst xmlns:a="http://schemas.openxmlformats.org/drawingml/2006/main">
              <a:ext uri="{FF2B5EF4-FFF2-40B4-BE49-F238E27FC236}">
                <a16:creationId xmlns:a16="http://schemas.microsoft.com/office/drawing/2014/main" id="{6780D574-178C-4CD6-8C88-715348C8C519}"/>
              </a:ext>
            </a:extLst>
          </p:cNvPr>
          <p:cNvSpPr>
            <a:spLocks xmlns:a="http://schemas.openxmlformats.org/drawingml/2006/main" noGrp="1"/>
          </p:cNvSpPr>
          <p:nvPr/>
        </p:nvSpPr>
        <p:spPr>
          <a:xfrm xmlns:a="http://schemas.openxmlformats.org/drawingml/2006/main">
            <a:off x="714375" y="4181475"/>
            <a:ext cx="4191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650" b="0">
                <a:solidFill>
                  <a:srgbClr val="E46242"/>
                </a:solidFill>
                <a:latin typeface="Bebas Neue"/>
                <a:ea typeface="Bebas Neue"/>
                <a:cs typeface="Bebas Neue"/>
              </a:defRPr>
            </a:pPr>
            <a:r>
              <a:rPr sz="7650" b="0">
                <a:solidFill>
                  <a:srgbClr val="E46242"/>
                </a:solidFill>
                <a:latin typeface="Bebas Neue"/>
                <a:ea typeface="Bebas Neue"/>
                <a:cs typeface="Bebas Neue"/>
              </a:rPr>
              <a:t>95.74%</a:t>
            </a:r>
          </a:p>
        </p:txBody>
      </p:sp>
      <p:sp>
        <p:nvSpPr>
          <p:cNvPr id="10" name="">
            <a:extLst xmlns:a="http://schemas.openxmlformats.org/drawingml/2006/main">
              <a:ext uri="{FF2B5EF4-FFF2-40B4-BE49-F238E27FC236}">
                <a16:creationId xmlns:a16="http://schemas.microsoft.com/office/drawing/2014/main" id="{3054FC1C-C2AF-48A0-BA59-12CF19625AB0}"/>
              </a:ext>
            </a:extLst>
          </p:cNvPr>
          <p:cNvSpPr>
            <a:spLocks xmlns:a="http://schemas.openxmlformats.org/drawingml/2006/main" noGrp="1"/>
          </p:cNvSpPr>
          <p:nvPr/>
        </p:nvSpPr>
        <p:spPr>
          <a:xfrm xmlns:a="http://schemas.openxmlformats.org/drawingml/2006/main">
            <a:off x="714375" y="5353050"/>
            <a:ext cx="4476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56258"/>
                </a:solidFill>
                <a:latin typeface="DM Sans"/>
                <a:ea typeface="DM Sans"/>
                <a:cs typeface="DM Sans"/>
              </a:defRPr>
            </a:pPr>
            <a:r>
              <a:rPr sz="1800" b="0">
                <a:solidFill>
                  <a:srgbClr val="656258"/>
                </a:solidFill>
                <a:latin typeface="DM Sans"/>
                <a:ea typeface="DM Sans"/>
                <a:cs typeface="DM Sans"/>
              </a:rPr>
              <a:t>of user-catalog cells unobserved</a:t>
            </a:r>
          </a:p>
        </p:txBody>
      </p:sp>
      <p:sp>
        <p:nvSpPr>
          <p:cNvPr id="11" name="">
            <a:extLst xmlns:a="http://schemas.openxmlformats.org/drawingml/2006/main">
              <a:ext uri="{FF2B5EF4-FFF2-40B4-BE49-F238E27FC236}">
                <a16:creationId xmlns:a16="http://schemas.microsoft.com/office/drawing/2014/main" id="{1FD4E859-4470-499C-9FAB-9D7B6D949D9A}"/>
              </a:ext>
            </a:extLst>
          </p:cNvPr>
          <p:cNvSpPr>
            <a:spLocks xmlns:a="http://schemas.openxmlformats.org/drawingml/2006/main" noGrp="1"/>
          </p:cNvSpPr>
          <p:nvPr/>
        </p:nvSpPr>
        <p:spPr>
          <a:xfrm xmlns:a="http://schemas.openxmlformats.org/drawingml/2006/main">
            <a:off x="5429250" y="227647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56258"/>
                </a:solidFill>
                <a:latin typeface="DM Sans"/>
                <a:ea typeface="DM Sans"/>
                <a:cs typeface="DM Sans"/>
              </a:defRPr>
            </a:pPr>
            <a:r>
              <a:rPr sz="1575" b="0">
                <a:solidFill>
                  <a:srgbClr val="656258"/>
                </a:solidFill>
                <a:latin typeface="DM Sans"/>
                <a:ea typeface="DM Sans"/>
                <a:cs typeface="DM Sans"/>
              </a:rPr>
              <a:t>Gaps between adjacent ratings within a user</a:t>
            </a:r>
          </a:p>
        </p:txBody>
      </p:sp>
      <p:sp>
        <p:nvSpPr>
          <p:cNvPr id="13" name="">
            <a:extLst xmlns:a="http://schemas.openxmlformats.org/drawingml/2006/main">
              <a:ext uri="{FF2B5EF4-FFF2-40B4-BE49-F238E27FC236}">
                <a16:creationId xmlns:a16="http://schemas.microsoft.com/office/drawing/2014/main" id="{C5AB8F94-7DB4-4C42-ACD1-876A7CF07929}"/>
              </a:ext>
            </a:extLst>
          </p:cNvPr>
          <p:cNvSpPr>
            <a:spLocks xmlns:a="http://schemas.openxmlformats.org/drawingml/2006/main" noGrp="1"/>
          </p:cNvSpPr>
          <p:nvPr/>
        </p:nvSpPr>
        <p:spPr>
          <a:xfrm xmlns:a="http://schemas.openxmlformats.org/drawingml/2006/main">
            <a:off x="5429250" y="5695950"/>
            <a:ext cx="604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4231E"/>
                </a:solidFill>
                <a:latin typeface="DM Sans"/>
                <a:ea typeface="DM Sans"/>
                <a:cs typeface="DM Sans"/>
              </a:defRPr>
            </a:pPr>
            <a:r>
              <a:rPr sz="1875" b="0">
                <a:solidFill>
                  <a:srgbClr val="24231E"/>
                </a:solidFill>
                <a:latin typeface="DM Sans"/>
                <a:ea typeface="DM Sans"/>
                <a:cs typeface="DM Sans"/>
              </a:rPr>
              <a:t>Rating order cannot establish viewing order.</a:t>
            </a:r>
          </a:p>
        </p:txBody>
      </p:sp>
      <p:sp>
        <p:nvSpPr>
          <p:cNvPr id="14" name="">
            <a:extLst xmlns:a="http://schemas.openxmlformats.org/drawingml/2006/main">
              <a:ext uri="{FF2B5EF4-FFF2-40B4-BE49-F238E27FC236}">
                <a16:creationId xmlns:a16="http://schemas.microsoft.com/office/drawing/2014/main" id="{B32E9D29-BE60-4C1B-8129-A30526040FC7}"/>
              </a:ext>
            </a:extLst>
          </p:cNvPr>
          <p:cNvSpPr>
            <a:spLocks xmlns:a="http://schemas.openxmlformats.org/drawingml/2006/main" noGrp="1"/>
          </p:cNvSpPr>
          <p:nvPr/>
        </p:nvSpPr>
        <p:spPr>
          <a:xfrm xmlns:a="http://schemas.openxmlformats.org/drawingml/2006/main">
            <a:off x="714375" y="63341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656258"/>
                </a:solidFill>
                <a:latin typeface="DM Sans"/>
                <a:ea typeface="DM Sans"/>
                <a:cs typeface="DM Sans"/>
              </a:defRPr>
            </a:pPr>
            <a:r>
              <a:rPr sz="1200" b="0">
                <a:solidFill>
                  <a:srgbClr val="656258"/>
                </a:solidFill>
                <a:latin typeface="DM Sans"/>
                <a:ea typeface="DM Sans"/>
                <a:cs typeface="DM Sans"/>
              </a:rPr>
              <a:t>Source: MovieLens 1M. All 994,169 within-user adjacent gaps.</a:t>
            </a:r>
          </a:p>
        </p:txBody>
      </p:sp>
      <p:graphicFrame>
        <p:nvGraphicFramePr>
          <p:cNvPr id="30" name="Chart"/>
          <p:cNvGraphicFramePr/>
          <p:nvPr/>
        </p:nvGraphicFramePr>
        <p:xfrm>
          <a:off xmlns:a="http://schemas.openxmlformats.org/drawingml/2006/main" x="5429250" y="2857500"/>
          <a:ext xmlns:a="http://schemas.openxmlformats.org/drawingml/2006/main" cx="6096000" cy="2762250"/>
        </p:xfrm>
        <a:graphic xmlns:a="http://schemas.openxmlformats.org/drawingml/2006/main">
          <a:graphicData uri="http://schemas.openxmlformats.org/drawingml/2006/chart">
            <c:chart xmlns:r="http://schemas.openxmlformats.org/officeDocument/2006/relationships" xmlns:c="http://schemas.openxmlformats.org/drawingml/2006/chart" r:id="Rdf75b2eac2a245be"/>
          </a:graphicData>
        </a:graphic>
      </p:graphicFrame>
    </p:spTree>
    <p:extLst>
      <p:ext uri="{BB962C8B-B14F-4D97-AF65-F5344CB8AC3E}">
        <p14:creationId xmlns:p14="http://schemas.microsoft.com/office/powerpoint/2010/main" val="789681101"/>
      </p:ext>
    </p:extLst>
  </p:cSld>
</p:sld>
</file>

<file path=ppt/slides/slide3.xml><?xml version="1.0" encoding="utf-8"?>
<p:sld xmlns:p="http://schemas.openxmlformats.org/presentationml/2006/main">
  <p:cSld>
    <p:bg>
      <p:bgPr>
        <a:solidFill xmlns:a="http://schemas.openxmlformats.org/drawingml/2006/main">
          <a:srgbClr val="F1E8D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5658F63-1DDF-485B-9CBB-97CB6293D51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BF492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A867E5-44E3-4ED7-87E3-D4139B56B91B}"/>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56258"/>
                </a:solidFill>
                <a:latin typeface="DM Sans"/>
                <a:ea typeface="DM Sans"/>
                <a:cs typeface="DM Sans"/>
              </a:defRPr>
            </a:pPr>
            <a:r>
              <a:rPr sz="1350" b="0">
                <a:solidFill>
                  <a:srgbClr val="656258"/>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F513DA18-6A1A-4967-AFE7-0A5934B4ECB5}"/>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COURSE REPLICATION</a:t>
            </a:r>
          </a:p>
        </p:txBody>
      </p:sp>
      <p:sp>
        <p:nvSpPr>
          <p:cNvPr id="4" name="">
            <a:extLst xmlns:a="http://schemas.openxmlformats.org/drawingml/2006/main">
              <a:ext uri="{FF2B5EF4-FFF2-40B4-BE49-F238E27FC236}">
                <a16:creationId xmlns:a16="http://schemas.microsoft.com/office/drawing/2014/main" id="{138A3C49-14FD-4CD6-A74A-784BB44819F5}"/>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D2C8B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25951C-5019-440B-AC98-5BFAB5028F43}"/>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0">
                <a:solidFill>
                  <a:srgbClr val="24231E"/>
                </a:solidFill>
                <a:latin typeface="Bebas Neue"/>
                <a:ea typeface="Bebas Neue"/>
                <a:cs typeface="Bebas Neue"/>
              </a:defRPr>
            </a:pPr>
            <a:r>
              <a:rPr sz="4800" b="0">
                <a:solidFill>
                  <a:srgbClr val="24231E"/>
                </a:solidFill>
                <a:latin typeface="Bebas Neue"/>
                <a:ea typeface="Bebas Neue"/>
                <a:cs typeface="Bebas Neue"/>
              </a:rPr>
              <a:t>Course baseline and fresh replication</a:t>
            </a:r>
          </a:p>
        </p:txBody>
      </p:sp>
      <p:sp>
        <p:nvSpPr>
          <p:cNvPr id="6" name="">
            <a:extLst xmlns:a="http://schemas.openxmlformats.org/drawingml/2006/main">
              <a:ext uri="{FF2B5EF4-FFF2-40B4-BE49-F238E27FC236}">
                <a16:creationId xmlns:a16="http://schemas.microsoft.com/office/drawing/2014/main" id="{0E7495B0-D9C2-4FC9-8D0B-8119F36201AD}"/>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03</a:t>
            </a:r>
          </a:p>
        </p:txBody>
      </p:sp>
      <p:sp>
        <p:nvSpPr>
          <p:cNvPr id="15" name="">
            <a:extLst xmlns:a="http://schemas.openxmlformats.org/drawingml/2006/main">
              <a:ext uri="{FF2B5EF4-FFF2-40B4-BE49-F238E27FC236}">
                <a16:creationId xmlns:a16="http://schemas.microsoft.com/office/drawing/2014/main" id="{20A60953-BF4B-4235-8441-FFF217019CAE}"/>
              </a:ext>
            </a:extLst>
          </p:cNvPr>
          <p:cNvSpPr>
            <a:spLocks xmlns:a="http://schemas.openxmlformats.org/drawingml/2006/main" noGrp="1"/>
          </p:cNvSpPr>
          <p:nvPr/>
        </p:nvSpPr>
        <p:spPr>
          <a:xfrm xmlns:a="http://schemas.openxmlformats.org/drawingml/2006/main">
            <a:off x="714375" y="2219325"/>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24231E"/>
                </a:solidFill>
                <a:latin typeface="Bebas Neue"/>
                <a:ea typeface="Bebas Neue"/>
                <a:cs typeface="Bebas Neue"/>
              </a:defRPr>
            </a:pPr>
            <a:r>
              <a:rPr sz="3300" b="0">
                <a:solidFill>
                  <a:srgbClr val="24231E"/>
                </a:solidFill>
                <a:latin typeface="Bebas Neue"/>
                <a:ea typeface="Bebas Neue"/>
                <a:cs typeface="Bebas Neue"/>
              </a:rPr>
              <a:t>CLASSROOM BENCHMARK</a:t>
            </a:r>
          </a:p>
        </p:txBody>
      </p:sp>
      <p:sp>
        <p:nvSpPr>
          <p:cNvPr id="16" name="">
            <a:extLst xmlns:a="http://schemas.openxmlformats.org/drawingml/2006/main">
              <a:ext uri="{FF2B5EF4-FFF2-40B4-BE49-F238E27FC236}">
                <a16:creationId xmlns:a16="http://schemas.microsoft.com/office/drawing/2014/main" id="{98150F7B-9114-4BF3-9A39-B26B1874057D}"/>
              </a:ext>
            </a:extLst>
          </p:cNvPr>
          <p:cNvSpPr>
            <a:spLocks xmlns:a="http://schemas.openxmlformats.org/drawingml/2006/main" noGrp="1"/>
          </p:cNvSpPr>
          <p:nvPr/>
        </p:nvSpPr>
        <p:spPr>
          <a:xfrm xmlns:a="http://schemas.openxmlformats.org/drawingml/2006/main">
            <a:off x="714375" y="3028950"/>
            <a:ext cx="5286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231E"/>
                </a:solidFill>
                <a:latin typeface="DM Sans"/>
                <a:ea typeface="DM Sans"/>
                <a:cs typeface="DM Sans"/>
              </a:defRPr>
            </a:pPr>
            <a:r>
              <a:rPr sz="2025" b="0">
                <a:solidFill>
                  <a:srgbClr val="24231E"/>
                </a:solidFill>
                <a:latin typeface="DM Sans"/>
                <a:ea typeface="DM Sans"/>
                <a:cs typeface="DM Sans"/>
              </a:rPr>
              <a:t>Exact 99/1 split, seed 144</a:t>
            </a:r>
          </a:p>
          <a:p xmlns:a="http://schemas.openxmlformats.org/drawingml/2006/main">
            <a:pPr>
              <a:defRPr sz="2025" b="0">
                <a:solidFill>
                  <a:srgbClr val="24231E"/>
                </a:solidFill>
                <a:latin typeface="DM Sans"/>
                <a:ea typeface="DM Sans"/>
                <a:cs typeface="DM Sans"/>
              </a:defRPr>
            </a:pPr>
            <a:r>
              <a:rPr sz="2025" b="0">
                <a:solidFill>
                  <a:srgbClr val="24231E"/>
                </a:solidFill>
                <a:latin typeface="DM Sans"/>
                <a:ea typeface="DM Sans"/>
                <a:cs typeface="DM Sans"/>
              </a:rPr>
              <a:t>20-fold CV selects rank 8</a:t>
            </a:r>
          </a:p>
        </p:txBody>
      </p:sp>
      <p:sp>
        <p:nvSpPr>
          <p:cNvPr id="17" name="">
            <a:extLst xmlns:a="http://schemas.openxmlformats.org/drawingml/2006/main">
              <a:ext uri="{FF2B5EF4-FFF2-40B4-BE49-F238E27FC236}">
                <a16:creationId xmlns:a16="http://schemas.microsoft.com/office/drawing/2014/main" id="{EBB1C909-3E40-49A2-A89D-D178CC3A1B70}"/>
              </a:ext>
            </a:extLst>
          </p:cNvPr>
          <p:cNvSpPr>
            <a:spLocks xmlns:a="http://schemas.openxmlformats.org/drawingml/2006/main" noGrp="1"/>
          </p:cNvSpPr>
          <p:nvPr/>
        </p:nvSpPr>
        <p:spPr>
          <a:xfrm xmlns:a="http://schemas.openxmlformats.org/drawingml/2006/main">
            <a:off x="6858000" y="2219325"/>
            <a:ext cx="466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E46242"/>
                </a:solidFill>
                <a:latin typeface="Bebas Neue"/>
                <a:ea typeface="Bebas Neue"/>
                <a:cs typeface="Bebas Neue"/>
              </a:defRPr>
            </a:pPr>
            <a:r>
              <a:rPr sz="3300" b="0">
                <a:solidFill>
                  <a:srgbClr val="E46242"/>
                </a:solidFill>
                <a:latin typeface="Bebas Neue"/>
                <a:ea typeface="Bebas Neue"/>
                <a:cs typeface="Bebas Neue"/>
              </a:rPr>
              <a:t>FRESH REPLICATION</a:t>
            </a:r>
          </a:p>
        </p:txBody>
      </p:sp>
      <p:sp>
        <p:nvSpPr>
          <p:cNvPr id="18" name="">
            <a:extLst xmlns:a="http://schemas.openxmlformats.org/drawingml/2006/main">
              <a:ext uri="{FF2B5EF4-FFF2-40B4-BE49-F238E27FC236}">
                <a16:creationId xmlns:a16="http://schemas.microsoft.com/office/drawing/2014/main" id="{33B07881-74D2-47CC-98A0-8AE772C59DB7}"/>
              </a:ext>
            </a:extLst>
          </p:cNvPr>
          <p:cNvSpPr>
            <a:spLocks xmlns:a="http://schemas.openxmlformats.org/drawingml/2006/main" noGrp="1"/>
          </p:cNvSpPr>
          <p:nvPr/>
        </p:nvSpPr>
        <p:spPr>
          <a:xfrm xmlns:a="http://schemas.openxmlformats.org/drawingml/2006/main">
            <a:off x="6858000" y="3028950"/>
            <a:ext cx="4572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231E"/>
                </a:solidFill>
                <a:latin typeface="DM Sans"/>
                <a:ea typeface="DM Sans"/>
                <a:cs typeface="DM Sans"/>
              </a:defRPr>
            </a:pPr>
            <a:r>
              <a:rPr sz="2025" b="0">
                <a:solidFill>
                  <a:srgbClr val="24231E"/>
                </a:solidFill>
                <a:latin typeface="DM Sans"/>
                <a:ea typeface="DM Sans"/>
                <a:cs typeface="DM Sans"/>
              </a:rPr>
              <a:t>400 R fits: 20 ranks × 20 folds</a:t>
            </a:r>
          </a:p>
          <a:p xmlns:a="http://schemas.openxmlformats.org/drawingml/2006/main">
            <a:pPr>
              <a:defRPr sz="2025" b="0">
                <a:solidFill>
                  <a:srgbClr val="24231E"/>
                </a:solidFill>
                <a:latin typeface="DM Sans"/>
                <a:ea typeface="DM Sans"/>
                <a:cs typeface="DM Sans"/>
              </a:defRPr>
            </a:pPr>
            <a:r>
              <a:rPr sz="2025" b="0">
                <a:solidFill>
                  <a:srgbClr val="24231E"/>
                </a:solidFill>
                <a:latin typeface="DM Sans"/>
                <a:ea typeface="DM Sans"/>
                <a:cs typeface="DM Sans"/>
              </a:rPr>
              <a:t>Fresh CV selects rank 9</a:t>
            </a:r>
          </a:p>
        </p:txBody>
      </p:sp>
      <p:graphicFrame>
        <p:nvGraphicFramePr>
          <p:cNvPr id="31" name=""/>
          <p:cNvGraphicFramePr/>
          <p:nvPr/>
        </p:nvGraphicFramePr>
        <p:xfrm>
          <a:off xmlns:a="http://schemas.openxmlformats.org/drawingml/2006/main" x="714375" y="4343400"/>
          <a:ext xmlns:a="http://schemas.openxmlformats.org/drawingml/2006/main" cx="10763250" cy="1504950"/>
        </p:xfrm>
        <a:graphic xmlns:a="http://schemas.openxmlformats.org/drawingml/2006/main">
          <a:graphicData uri="http://schemas.openxmlformats.org/drawingml/2006/table">
            <a:tbl>
              <a:tblPr firstRow="0" bandRow="0"/>
              <a:tblGrid>
                <a:gridCol w="4619625"/>
                <a:gridCol w="2047875"/>
                <a:gridCol w="2047875"/>
                <a:gridCol w="2047875"/>
              </a:tblGrid>
              <a:tr h="457200">
                <a:tc>
                  <a:txBody>
                    <a:bodyPr/>
                    <a:lstStyle/>
                    <a:p>
                      <a:r>
                        <a:rPr sz="1800" b="1">
                          <a:solidFill>
                            <a:srgbClr val="656258"/>
                          </a:solidFill>
                          <a:latin typeface="DM Sans"/>
                          <a:ea typeface="DM Sans"/>
                          <a:cs typeface="DM Sans"/>
                        </a:rPr>
                        <a:t>Rank-8 test</a:t>
                      </a:r>
                    </a:p>
                  </a:txBody>
                  <a:tcPr marL="114300" marR="114300" marT="95250" marB="95250" anchor="ctr">
                    <a:solidFill>
                      <a:srgbClr val="F1E8D5"/>
                    </a:solidFill>
                  </a:tcPr>
                </a:tc>
                <a:tc>
                  <a:txBody>
                    <a:bodyPr/>
                    <a:lstStyle/>
                    <a:p>
                      <a:r>
                        <a:rPr sz="1800" b="1">
                          <a:solidFill>
                            <a:srgbClr val="656258"/>
                          </a:solidFill>
                          <a:latin typeface="DM Sans"/>
                          <a:ea typeface="DM Sans"/>
                          <a:cs typeface="DM Sans"/>
                        </a:rPr>
                        <a:t>RMSE</a:t>
                      </a:r>
                    </a:p>
                  </a:txBody>
                  <a:tcPr marL="114300" marR="114300" marT="95250" marB="95250" anchor="ctr">
                    <a:solidFill>
                      <a:srgbClr val="F1E8D5"/>
                    </a:solidFill>
                  </a:tcPr>
                </a:tc>
                <a:tc>
                  <a:txBody>
                    <a:bodyPr/>
                    <a:lstStyle/>
                    <a:p>
                      <a:r>
                        <a:rPr sz="1800" b="1">
                          <a:solidFill>
                            <a:srgbClr val="656258"/>
                          </a:solidFill>
                          <a:latin typeface="DM Sans"/>
                          <a:ea typeface="DM Sans"/>
                          <a:cs typeface="DM Sans"/>
                        </a:rPr>
                        <a:t>MAE</a:t>
                      </a:r>
                    </a:p>
                  </a:txBody>
                  <a:tcPr marL="114300" marR="114300" marT="95250" marB="95250" anchor="ctr">
                    <a:solidFill>
                      <a:srgbClr val="F1E8D5"/>
                    </a:solidFill>
                  </a:tcPr>
                </a:tc>
                <a:tc>
                  <a:txBody>
                    <a:bodyPr/>
                    <a:lstStyle/>
                    <a:p>
                      <a:r>
                        <a:rPr sz="1800" b="1">
                          <a:solidFill>
                            <a:srgbClr val="656258"/>
                          </a:solidFill>
                          <a:latin typeface="DM Sans"/>
                          <a:ea typeface="DM Sans"/>
                          <a:cs typeface="DM Sans"/>
                        </a:rPr>
                        <a:t>OSR²</a:t>
                      </a:r>
                    </a:p>
                  </a:txBody>
                  <a:tcPr marL="114300" marR="114300" marT="95250" marB="95250" anchor="ctr">
                    <a:solidFill>
                      <a:srgbClr val="F1E8D5"/>
                    </a:solidFill>
                  </a:tcPr>
                </a:tc>
              </a:tr>
              <a:tr h="523875">
                <a:tc>
                  <a:txBody>
                    <a:bodyPr/>
                    <a:lstStyle/>
                    <a:p>
                      <a:r>
                        <a:rPr sz="1800">
                          <a:solidFill>
                            <a:srgbClr val="24231E"/>
                          </a:solidFill>
                          <a:latin typeface="DM Sans"/>
                          <a:ea typeface="DM Sans"/>
                          <a:cs typeface="DM Sans"/>
                        </a:rPr>
                        <a:t>Instructor notebook</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0.919</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0.709</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0.332</a:t>
                      </a:r>
                    </a:p>
                  </a:txBody>
                  <a:tcPr marL="114300" marR="114300" marT="95250" marB="95250" anchor="ctr">
                    <a:solidFill>
                      <a:srgbClr val="F1E8D5"/>
                    </a:solidFill>
                  </a:tcPr>
                </a:tc>
              </a:tr>
              <a:tr h="523875">
                <a:tc>
                  <a:txBody>
                    <a:bodyPr/>
                    <a:lstStyle/>
                    <a:p>
                      <a:r>
                        <a:rPr sz="1800" b="1">
                          <a:solidFill>
                            <a:srgbClr val="E46242"/>
                          </a:solidFill>
                          <a:latin typeface="DM Sans"/>
                          <a:ea typeface="DM Sans"/>
                          <a:cs typeface="DM Sans"/>
                        </a:rPr>
                        <a:t>Our classroom refit</a:t>
                      </a:r>
                    </a:p>
                  </a:txBody>
                  <a:tcPr marL="114300" marR="114300" marT="95250" marB="95250" anchor="ctr">
                    <a:solidFill>
                      <a:srgbClr val="F1E8D5"/>
                    </a:solidFill>
                  </a:tcPr>
                </a:tc>
                <a:tc>
                  <a:txBody>
                    <a:bodyPr/>
                    <a:lstStyle/>
                    <a:p>
                      <a:r>
                        <a:rPr sz="1800" b="1">
                          <a:solidFill>
                            <a:srgbClr val="E46242"/>
                          </a:solidFill>
                          <a:latin typeface="DM Sans"/>
                          <a:ea typeface="DM Sans"/>
                          <a:cs typeface="DM Sans"/>
                        </a:rPr>
                        <a:t>0.9198</a:t>
                      </a:r>
                    </a:p>
                  </a:txBody>
                  <a:tcPr marL="114300" marR="114300" marT="95250" marB="95250" anchor="ctr">
                    <a:solidFill>
                      <a:srgbClr val="F1E8D5"/>
                    </a:solidFill>
                  </a:tcPr>
                </a:tc>
                <a:tc>
                  <a:txBody>
                    <a:bodyPr/>
                    <a:lstStyle/>
                    <a:p>
                      <a:r>
                        <a:rPr sz="1800" b="1">
                          <a:solidFill>
                            <a:srgbClr val="E46242"/>
                          </a:solidFill>
                          <a:latin typeface="DM Sans"/>
                          <a:ea typeface="DM Sans"/>
                          <a:cs typeface="DM Sans"/>
                        </a:rPr>
                        <a:t>0.7106</a:t>
                      </a:r>
                    </a:p>
                  </a:txBody>
                  <a:tcPr marL="114300" marR="114300" marT="95250" marB="95250" anchor="ctr">
                    <a:solidFill>
                      <a:srgbClr val="F1E8D5"/>
                    </a:solidFill>
                  </a:tcPr>
                </a:tc>
                <a:tc>
                  <a:txBody>
                    <a:bodyPr/>
                    <a:lstStyle/>
                    <a:p>
                      <a:r>
                        <a:rPr sz="1800" b="1">
                          <a:solidFill>
                            <a:srgbClr val="E46242"/>
                          </a:solidFill>
                          <a:latin typeface="DM Sans"/>
                          <a:ea typeface="DM Sans"/>
                          <a:cs typeface="DM Sans"/>
                        </a:rPr>
                        <a:t>0.3300</a:t>
                      </a:r>
                    </a:p>
                  </a:txBody>
                  <a:tcPr marL="114300" marR="114300" marT="95250" marB="95250" anchor="ctr">
                    <a:solidFill>
                      <a:srgbClr val="F1E8D5"/>
                    </a:solidFill>
                  </a:tcPr>
                </a:tc>
              </a:tr>
            </a:tbl>
          </a:graphicData>
        </a:graphic>
      </p:graphicFrame>
      <p:sp>
        <p:nvSpPr>
          <p:cNvPr id="20" name="">
            <a:extLst xmlns:a="http://schemas.openxmlformats.org/drawingml/2006/main">
              <a:ext uri="{FF2B5EF4-FFF2-40B4-BE49-F238E27FC236}">
                <a16:creationId xmlns:a16="http://schemas.microsoft.com/office/drawing/2014/main" id="{FFFA1A35-C8EC-4C46-AFCA-B0DE605EFFC0}"/>
              </a:ext>
            </a:extLst>
          </p:cNvPr>
          <p:cNvSpPr>
            <a:spLocks xmlns:a="http://schemas.openxmlformats.org/drawingml/2006/main" noGrp="1"/>
          </p:cNvSpPr>
          <p:nvPr/>
        </p:nvSpPr>
        <p:spPr>
          <a:xfrm xmlns:a="http://schemas.openxmlformats.org/drawingml/2006/main">
            <a:off x="714375" y="63341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258"/>
                </a:solidFill>
                <a:latin typeface="DM Sans"/>
                <a:ea typeface="DM Sans"/>
                <a:cs typeface="DM Sans"/>
              </a:defRPr>
            </a:pPr>
            <a:r>
              <a:rPr sz="1200" b="0">
                <a:solidFill>
                  <a:srgbClr val="656258"/>
                </a:solidFill>
                <a:latin typeface="DM Sans"/>
                <a:ea typeface="DM Sans"/>
                <a:cs typeface="DM Sans"/>
              </a:rPr>
              <a:t>Rank 8 retained for the classroom comparison. Original R seed/version are unrecorded.</a:t>
            </a:r>
          </a:p>
        </p:txBody>
      </p:sp>
    </p:spTree>
    <p:extLst>
      <p:ext uri="{BB962C8B-B14F-4D97-AF65-F5344CB8AC3E}">
        <p14:creationId xmlns:p14="http://schemas.microsoft.com/office/powerpoint/2010/main" val="712286830"/>
      </p:ext>
    </p:extLst>
  </p:cSld>
</p:sld>
</file>

<file path=ppt/slides/slide4.xml><?xml version="1.0" encoding="utf-8"?>
<p:sld xmlns:p="http://schemas.openxmlformats.org/presentationml/2006/main">
  <p:cSld>
    <p:bg>
      <p:bgPr>
        <a:solidFill xmlns:a="http://schemas.openxmlformats.org/drawingml/2006/main">
          <a:srgbClr val="1717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E6062BC-3221-4BD4-BC77-0E4B0EF07BF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4624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1D2D4C-8536-4465-A46F-EFBF76E41AB8}"/>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DB8AD"/>
                </a:solidFill>
                <a:latin typeface="DM Sans"/>
                <a:ea typeface="DM Sans"/>
                <a:cs typeface="DM Sans"/>
              </a:defRPr>
            </a:pPr>
            <a:r>
              <a:rPr sz="1350" b="0">
                <a:solidFill>
                  <a:srgbClr val="BDB8AD"/>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16A79108-84D5-4ACA-9B52-BE2DCDF8E47D}"/>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DB8AD"/>
                </a:solidFill>
                <a:latin typeface="DM Sans"/>
                <a:ea typeface="DM Sans"/>
                <a:cs typeface="DM Sans"/>
              </a:defRPr>
            </a:pPr>
            <a:r>
              <a:rPr sz="1275" b="0">
                <a:solidFill>
                  <a:srgbClr val="BDB8AD"/>
                </a:solidFill>
                <a:latin typeface="DM Sans"/>
                <a:ea typeface="DM Sans"/>
                <a:cs typeface="DM Sans"/>
              </a:rPr>
              <a:t>EVALUATION PROTOCOL</a:t>
            </a:r>
          </a:p>
        </p:txBody>
      </p:sp>
      <p:sp>
        <p:nvSpPr>
          <p:cNvPr id="4" name="">
            <a:extLst xmlns:a="http://schemas.openxmlformats.org/drawingml/2006/main">
              <a:ext uri="{FF2B5EF4-FFF2-40B4-BE49-F238E27FC236}">
                <a16:creationId xmlns:a16="http://schemas.microsoft.com/office/drawing/2014/main" id="{8DED8ABA-200C-443D-A944-6C8C20AF02FE}"/>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5551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77FE8F-E492-449F-8994-79CFB2288134}"/>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0">
                <a:solidFill>
                  <a:srgbClr val="F1E8D5"/>
                </a:solidFill>
                <a:latin typeface="Bebas Neue"/>
                <a:ea typeface="Bebas Neue"/>
                <a:cs typeface="Bebas Neue"/>
              </a:defRPr>
            </a:pPr>
            <a:r>
              <a:rPr sz="4800" b="0">
                <a:solidFill>
                  <a:srgbClr val="F1E8D5"/>
                </a:solidFill>
                <a:latin typeface="Bebas Neue"/>
                <a:ea typeface="Bebas Neue"/>
                <a:cs typeface="Bebas Neue"/>
              </a:rPr>
              <a:t>Random completion and future prediction</a:t>
            </a:r>
          </a:p>
        </p:txBody>
      </p:sp>
      <p:sp>
        <p:nvSpPr>
          <p:cNvPr id="6" name="">
            <a:extLst xmlns:a="http://schemas.openxmlformats.org/drawingml/2006/main">
              <a:ext uri="{FF2B5EF4-FFF2-40B4-BE49-F238E27FC236}">
                <a16:creationId xmlns:a16="http://schemas.microsoft.com/office/drawing/2014/main" id="{3589BF8C-73DA-4CFB-BD00-E55052BB97C3}"/>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DB8AD"/>
                </a:solidFill>
                <a:latin typeface="DM Sans"/>
                <a:ea typeface="DM Sans"/>
                <a:cs typeface="DM Sans"/>
              </a:defRPr>
            </a:pPr>
            <a:r>
              <a:rPr sz="1275" b="0">
                <a:solidFill>
                  <a:srgbClr val="BDB8AD"/>
                </a:solidFill>
                <a:latin typeface="DM Sans"/>
                <a:ea typeface="DM Sans"/>
                <a:cs typeface="DM Sans"/>
              </a:rPr>
              <a:t>04</a:t>
            </a:r>
          </a:p>
        </p:txBody>
      </p:sp>
      <p:sp>
        <p:nvSpPr>
          <p:cNvPr id="22" name="">
            <a:extLst xmlns:a="http://schemas.openxmlformats.org/drawingml/2006/main">
              <a:ext uri="{FF2B5EF4-FFF2-40B4-BE49-F238E27FC236}">
                <a16:creationId xmlns:a16="http://schemas.microsoft.com/office/drawing/2014/main" id="{9D344046-9576-49E5-93B6-DC5FCD8EB68A}"/>
              </a:ext>
            </a:extLst>
          </p:cNvPr>
          <p:cNvSpPr>
            <a:spLocks xmlns:a="http://schemas.openxmlformats.org/drawingml/2006/main" noGrp="1"/>
          </p:cNvSpPr>
          <p:nvPr/>
        </p:nvSpPr>
        <p:spPr>
          <a:xfrm xmlns:a="http://schemas.openxmlformats.org/drawingml/2006/main">
            <a:off x="714375" y="21717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DB8AD"/>
                </a:solidFill>
                <a:latin typeface="DM Sans"/>
                <a:ea typeface="DM Sans"/>
                <a:cs typeface="DM Sans"/>
              </a:defRPr>
            </a:pPr>
            <a:r>
              <a:rPr sz="1800" b="0">
                <a:solidFill>
                  <a:srgbClr val="BDB8AD"/>
                </a:solidFill>
                <a:latin typeface="DM Sans"/>
                <a:ea typeface="DM Sans"/>
                <a:cs typeface="DM Sans"/>
              </a:rPr>
              <a:t>Same 1-5 rating target. The split follows the prediction question.</a:t>
            </a:r>
          </a:p>
        </p:txBody>
      </p:sp>
      <p:graphicFrame>
        <p:nvGraphicFramePr>
          <p:cNvPr id="34" name=""/>
          <p:cNvGraphicFramePr/>
          <p:nvPr/>
        </p:nvGraphicFramePr>
        <p:xfrm>
          <a:off xmlns:a="http://schemas.openxmlformats.org/drawingml/2006/main" x="714375" y="2857500"/>
          <a:ext xmlns:a="http://schemas.openxmlformats.org/drawingml/2006/main" cx="10763250" cy="2209800"/>
        </p:xfrm>
        <a:graphic xmlns:a="http://schemas.openxmlformats.org/drawingml/2006/main">
          <a:graphicData uri="http://schemas.openxmlformats.org/drawingml/2006/table">
            <a:tbl>
              <a:tblPr firstRow="0" bandRow="0"/>
              <a:tblGrid>
                <a:gridCol w="3810000"/>
                <a:gridCol w="3476625"/>
                <a:gridCol w="3476625"/>
              </a:tblGrid>
              <a:tr h="552450">
                <a:tc>
                  <a:txBody>
                    <a:bodyPr/>
                    <a:lstStyle/>
                    <a:p>
                      <a:r>
                        <a:rPr sz="1875" b="1">
                          <a:solidFill>
                            <a:srgbClr val="BDB8AD"/>
                          </a:solidFill>
                          <a:latin typeface="DM Sans"/>
                          <a:ea typeface="DM Sans"/>
                          <a:cs typeface="DM Sans"/>
                        </a:rPr>
                        <a:t>Partition</a:t>
                      </a:r>
                    </a:p>
                  </a:txBody>
                  <a:tcPr marL="114300" marR="114300" marT="95250" marB="95250" anchor="ctr">
                    <a:solidFill>
                      <a:srgbClr val="171714"/>
                    </a:solidFill>
                  </a:tcPr>
                </a:tc>
                <a:tc>
                  <a:txBody>
                    <a:bodyPr/>
                    <a:lstStyle/>
                    <a:p>
                      <a:r>
                        <a:rPr sz="1875" b="1">
                          <a:solidFill>
                            <a:srgbClr val="BDB8AD"/>
                          </a:solidFill>
                          <a:latin typeface="DM Sans"/>
                          <a:ea typeface="DM Sans"/>
                          <a:cs typeface="DM Sans"/>
                        </a:rPr>
                        <a:t>Random 99/1</a:t>
                      </a:r>
                    </a:p>
                  </a:txBody>
                  <a:tcPr marL="114300" marR="114300" marT="95250" marB="95250" anchor="ctr">
                    <a:solidFill>
                      <a:srgbClr val="171714"/>
                    </a:solidFill>
                  </a:tcPr>
                </a:tc>
                <a:tc>
                  <a:txBody>
                    <a:bodyPr/>
                    <a:lstStyle/>
                    <a:p>
                      <a:r>
                        <a:rPr sz="1875" b="1">
                          <a:solidFill>
                            <a:srgbClr val="BDB8AD"/>
                          </a:solidFill>
                          <a:latin typeface="DM Sans"/>
                          <a:ea typeface="DM Sans"/>
                          <a:cs typeface="DM Sans"/>
                        </a:rPr>
                        <a:t>Global time 80/10/10</a:t>
                      </a:r>
                    </a:p>
                  </a:txBody>
                  <a:tcPr marL="114300" marR="114300" marT="95250" marB="95250" anchor="ctr">
                    <a:solidFill>
                      <a:srgbClr val="171714"/>
                    </a:solidFill>
                  </a:tcPr>
                </a:tc>
              </a:tr>
              <a:tr h="552450">
                <a:tc>
                  <a:txBody>
                    <a:bodyPr/>
                    <a:lstStyle/>
                    <a:p>
                      <a:r>
                        <a:rPr sz="1875">
                          <a:solidFill>
                            <a:srgbClr val="F1E8D5"/>
                          </a:solidFill>
                          <a:latin typeface="DM Sans"/>
                          <a:ea typeface="DM Sans"/>
                          <a:cs typeface="DM Sans"/>
                        </a:rPr>
                        <a:t>Train</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990,206</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800,164</a:t>
                      </a:r>
                    </a:p>
                  </a:txBody>
                  <a:tcPr marL="114300" marR="114300" marT="95250" marB="95250" anchor="ctr">
                    <a:solidFill>
                      <a:srgbClr val="171714"/>
                    </a:solidFill>
                  </a:tcPr>
                </a:tc>
              </a:tr>
              <a:tr h="552450">
                <a:tc>
                  <a:txBody>
                    <a:bodyPr/>
                    <a:lstStyle/>
                    <a:p>
                      <a:r>
                        <a:rPr sz="1875">
                          <a:solidFill>
                            <a:srgbClr val="F1E8D5"/>
                          </a:solidFill>
                          <a:latin typeface="DM Sans"/>
                          <a:ea typeface="DM Sans"/>
                          <a:cs typeface="DM Sans"/>
                        </a:rPr>
                        <a:t>Validation</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20-fold CV in train</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100,024</a:t>
                      </a:r>
                    </a:p>
                  </a:txBody>
                  <a:tcPr marL="114300" marR="114300" marT="95250" marB="95250" anchor="ctr">
                    <a:solidFill>
                      <a:srgbClr val="171714"/>
                    </a:solidFill>
                  </a:tcPr>
                </a:tc>
              </a:tr>
              <a:tr h="552450">
                <a:tc>
                  <a:txBody>
                    <a:bodyPr/>
                    <a:lstStyle/>
                    <a:p>
                      <a:r>
                        <a:rPr sz="1875">
                          <a:solidFill>
                            <a:srgbClr val="F1E8D5"/>
                          </a:solidFill>
                          <a:latin typeface="DM Sans"/>
                          <a:ea typeface="DM Sans"/>
                          <a:cs typeface="DM Sans"/>
                        </a:rPr>
                        <a:t>Test</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10,003</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100,021</a:t>
                      </a:r>
                    </a:p>
                  </a:txBody>
                  <a:tcPr marL="114300" marR="114300" marT="95250" marB="95250" anchor="ctr">
                    <a:solidFill>
                      <a:srgbClr val="171714"/>
                    </a:solidFill>
                  </a:tcPr>
                </a:tc>
              </a:tr>
            </a:tbl>
          </a:graphicData>
        </a:graphic>
      </p:graphicFrame>
      <p:sp>
        <p:nvSpPr>
          <p:cNvPr id="24" name="">
            <a:extLst xmlns:a="http://schemas.openxmlformats.org/drawingml/2006/main">
              <a:ext uri="{FF2B5EF4-FFF2-40B4-BE49-F238E27FC236}">
                <a16:creationId xmlns:a16="http://schemas.microsoft.com/office/drawing/2014/main" id="{196ABD9C-035E-459E-A4A9-1D6871A8954C}"/>
              </a:ext>
            </a:extLst>
          </p:cNvPr>
          <p:cNvSpPr>
            <a:spLocks xmlns:a="http://schemas.openxmlformats.org/drawingml/2006/main" noGrp="1"/>
          </p:cNvSpPr>
          <p:nvPr/>
        </p:nvSpPr>
        <p:spPr>
          <a:xfrm xmlns:a="http://schemas.openxmlformats.org/drawingml/2006/main">
            <a:off x="714375" y="5324475"/>
            <a:ext cx="5381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1E8D5"/>
                </a:solidFill>
                <a:latin typeface="DM Sans"/>
                <a:ea typeface="DM Sans"/>
                <a:cs typeface="DM Sans"/>
              </a:defRPr>
            </a:pPr>
            <a:r>
              <a:rPr sz="1875" b="0">
                <a:solidFill>
                  <a:srgbClr val="F1E8D5"/>
                </a:solidFill>
                <a:latin typeface="DM Sans"/>
                <a:ea typeface="DM Sans"/>
                <a:cs typeface="DM Sans"/>
              </a:rPr>
              <a:t>Random: complete missing ratings.</a:t>
            </a:r>
          </a:p>
          <a:p xmlns:a="http://schemas.openxmlformats.org/drawingml/2006/main">
            <a:pPr>
              <a:defRPr sz="1875" b="0">
                <a:solidFill>
                  <a:srgbClr val="F1E8D5"/>
                </a:solidFill>
                <a:latin typeface="DM Sans"/>
                <a:ea typeface="DM Sans"/>
                <a:cs typeface="DM Sans"/>
              </a:defRPr>
            </a:pPr>
            <a:r>
              <a:rPr sz="1875" b="0">
                <a:solidFill>
                  <a:srgbClr val="F1E8D5"/>
                </a:solidFill>
                <a:latin typeface="DM Sans"/>
                <a:ea typeface="DM Sans"/>
                <a:cs typeface="DM Sans"/>
              </a:rPr>
              <a:t>Global time: predict future ratings.</a:t>
            </a:r>
          </a:p>
        </p:txBody>
      </p:sp>
      <p:sp>
        <p:nvSpPr>
          <p:cNvPr id="25" name="">
            <a:extLst xmlns:a="http://schemas.openxmlformats.org/drawingml/2006/main">
              <a:ext uri="{FF2B5EF4-FFF2-40B4-BE49-F238E27FC236}">
                <a16:creationId xmlns:a16="http://schemas.microsoft.com/office/drawing/2014/main" id="{7F26332A-0459-43A2-A184-7966FF3D3356}"/>
              </a:ext>
            </a:extLst>
          </p:cNvPr>
          <p:cNvSpPr>
            <a:spLocks xmlns:a="http://schemas.openxmlformats.org/drawingml/2006/main" noGrp="1"/>
          </p:cNvSpPr>
          <p:nvPr/>
        </p:nvSpPr>
        <p:spPr>
          <a:xfrm xmlns:a="http://schemas.openxmlformats.org/drawingml/2006/main">
            <a:off x="6858000" y="5324475"/>
            <a:ext cx="4648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1E8D5"/>
                </a:solidFill>
                <a:latin typeface="DM Sans"/>
                <a:ea typeface="DM Sans"/>
                <a:cs typeface="DM Sans"/>
              </a:defRPr>
            </a:pPr>
            <a:r>
              <a:rPr sz="1875" b="0">
                <a:solidFill>
                  <a:srgbClr val="F1E8D5"/>
                </a:solidFill>
                <a:latin typeface="DM Sans"/>
                <a:ea typeface="DM Sans"/>
                <a:cs typeface="DM Sans"/>
              </a:rPr>
              <a:t>Keep timestamp ties together.</a:t>
            </a:r>
          </a:p>
          <a:p xmlns:a="http://schemas.openxmlformats.org/drawingml/2006/main">
            <a:pPr>
              <a:defRPr sz="1875" b="0">
                <a:solidFill>
                  <a:srgbClr val="F1E8D5"/>
                </a:solidFill>
                <a:latin typeface="DM Sans"/>
                <a:ea typeface="DM Sans"/>
                <a:cs typeface="DM Sans"/>
              </a:defRPr>
            </a:pPr>
            <a:r>
              <a:rPr sz="1875" b="0">
                <a:solidFill>
                  <a:srgbClr val="F1E8D5"/>
                </a:solidFill>
                <a:latin typeface="DM Sans"/>
                <a:ea typeface="DM Sans"/>
                <a:cs typeface="DM Sans"/>
              </a:rPr>
              <a:t>Refit train + validation before test.</a:t>
            </a:r>
          </a:p>
        </p:txBody>
      </p:sp>
      <p:sp>
        <p:nvSpPr>
          <p:cNvPr id="26" name="">
            <a:extLst xmlns:a="http://schemas.openxmlformats.org/drawingml/2006/main">
              <a:ext uri="{FF2B5EF4-FFF2-40B4-BE49-F238E27FC236}">
                <a16:creationId xmlns:a16="http://schemas.microsoft.com/office/drawing/2014/main" id="{69ECDE06-B9E3-4519-B621-6F2700E7E260}"/>
              </a:ext>
            </a:extLst>
          </p:cNvPr>
          <p:cNvSpPr>
            <a:spLocks xmlns:a="http://schemas.openxmlformats.org/drawingml/2006/main" noGrp="1"/>
          </p:cNvSpPr>
          <p:nvPr/>
        </p:nvSpPr>
        <p:spPr>
          <a:xfrm xmlns:a="http://schemas.openxmlformats.org/drawingml/2006/main">
            <a:off x="714375" y="63341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DB8AD"/>
                </a:solidFill>
                <a:latin typeface="DM Sans"/>
                <a:ea typeface="DM Sans"/>
                <a:cs typeface="DM Sans"/>
              </a:defRPr>
            </a:pPr>
            <a:r>
              <a:rPr sz="1200" b="0">
                <a:solidFill>
                  <a:srgbClr val="BDB8AD"/>
                </a:solidFill>
                <a:latin typeface="DM Sans"/>
                <a:ea typeface="DM Sans"/>
                <a:cs typeface="DM Sans"/>
              </a:rPr>
              <a:t>Lecture 2: match the split to the use. Lecture 7: random rating completion.</a:t>
            </a:r>
          </a:p>
        </p:txBody>
      </p:sp>
    </p:spTree>
    <p:extLst>
      <p:ext uri="{BB962C8B-B14F-4D97-AF65-F5344CB8AC3E}">
        <p14:creationId xmlns:p14="http://schemas.microsoft.com/office/powerpoint/2010/main" val="396921125"/>
      </p:ext>
    </p:extLst>
  </p:cSld>
</p:sld>
</file>

<file path=ppt/slides/slide5.xml><?xml version="1.0" encoding="utf-8"?>
<p:sld xmlns:p="http://schemas.openxmlformats.org/presentationml/2006/main">
  <p:cSld>
    <p:bg>
      <p:bgPr>
        <a:solidFill xmlns:a="http://schemas.openxmlformats.org/drawingml/2006/main">
          <a:srgbClr val="F1E8D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FF5B983-A107-4655-B7CE-DF49BAC706A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BF492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39046A-A843-4952-BF1A-C5B6925910E0}"/>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56258"/>
                </a:solidFill>
                <a:latin typeface="DM Sans"/>
                <a:ea typeface="DM Sans"/>
                <a:cs typeface="DM Sans"/>
              </a:defRPr>
            </a:pPr>
            <a:r>
              <a:rPr sz="1350" b="0">
                <a:solidFill>
                  <a:srgbClr val="656258"/>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A8C6BEAD-CE71-4CDA-A14A-06CCF81A16C5}"/>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RESULTS</a:t>
            </a:r>
          </a:p>
        </p:txBody>
      </p:sp>
      <p:sp>
        <p:nvSpPr>
          <p:cNvPr id="4" name="">
            <a:extLst xmlns:a="http://schemas.openxmlformats.org/drawingml/2006/main">
              <a:ext uri="{FF2B5EF4-FFF2-40B4-BE49-F238E27FC236}">
                <a16:creationId xmlns:a16="http://schemas.microsoft.com/office/drawing/2014/main" id="{D0767485-D0A2-40A1-851F-88F6FA4A3B16}"/>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D2C8B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06D84F-EB71-4756-93DC-FA3B2AF71915}"/>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0">
                <a:solidFill>
                  <a:srgbClr val="24231E"/>
                </a:solidFill>
                <a:latin typeface="Bebas Neue"/>
                <a:ea typeface="Bebas Neue"/>
                <a:cs typeface="Bebas Neue"/>
              </a:defRPr>
            </a:pPr>
            <a:r>
              <a:rPr sz="4800" b="0">
                <a:solidFill>
                  <a:srgbClr val="24231E"/>
                </a:solidFill>
                <a:latin typeface="Bebas Neue"/>
                <a:ea typeface="Bebas Neue"/>
                <a:cs typeface="Bebas Neue"/>
              </a:rPr>
              <a:t>Metadata and time improve rating accuracy</a:t>
            </a:r>
          </a:p>
        </p:txBody>
      </p:sp>
      <p:sp>
        <p:nvSpPr>
          <p:cNvPr id="6" name="">
            <a:extLst xmlns:a="http://schemas.openxmlformats.org/drawingml/2006/main">
              <a:ext uri="{FF2B5EF4-FFF2-40B4-BE49-F238E27FC236}">
                <a16:creationId xmlns:a16="http://schemas.microsoft.com/office/drawing/2014/main" id="{06E7BF4A-0895-4AAC-8941-DAB482615787}"/>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05</a:t>
            </a:r>
          </a:p>
        </p:txBody>
      </p:sp>
      <p:sp>
        <p:nvSpPr>
          <p:cNvPr id="13" name="">
            <a:extLst xmlns:a="http://schemas.openxmlformats.org/drawingml/2006/main">
              <a:ext uri="{FF2B5EF4-FFF2-40B4-BE49-F238E27FC236}">
                <a16:creationId xmlns:a16="http://schemas.microsoft.com/office/drawing/2014/main" id="{75473179-21F2-4E95-A0CE-7F3845E88DBA}"/>
              </a:ext>
            </a:extLst>
          </p:cNvPr>
          <p:cNvSpPr>
            <a:spLocks xmlns:a="http://schemas.openxmlformats.org/drawingml/2006/main" noGrp="1"/>
          </p:cNvSpPr>
          <p:nvPr/>
        </p:nvSpPr>
        <p:spPr>
          <a:xfrm xmlns:a="http://schemas.openxmlformats.org/drawingml/2006/main">
            <a:off x="714375" y="21240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56258"/>
                </a:solidFill>
                <a:latin typeface="DM Sans"/>
                <a:ea typeface="DM Sans"/>
                <a:cs typeface="DM Sans"/>
              </a:defRPr>
            </a:pPr>
            <a:r>
              <a:rPr sz="1725" b="0">
                <a:solidFill>
                  <a:srgbClr val="656258"/>
                </a:solidFill>
                <a:latin typeface="DM Sans"/>
                <a:ea typeface="DM Sans"/>
                <a:cs typeface="DM Sans"/>
              </a:rPr>
              <a:t>Ridge combines CF predictions and features. Lower RMSE is better.</a:t>
            </a:r>
          </a:p>
        </p:txBody>
      </p:sp>
      <p:graphicFrame>
        <p:nvGraphicFramePr>
          <p:cNvPr id="24" name=""/>
          <p:cNvGraphicFramePr/>
          <p:nvPr/>
        </p:nvGraphicFramePr>
        <p:xfrm>
          <a:off xmlns:a="http://schemas.openxmlformats.org/drawingml/2006/main" x="714375" y="2647950"/>
          <a:ext xmlns:a="http://schemas.openxmlformats.org/drawingml/2006/main" cx="10763250" cy="2762250"/>
        </p:xfrm>
        <a:graphic xmlns:a="http://schemas.openxmlformats.org/drawingml/2006/main">
          <a:graphicData uri="http://schemas.openxmlformats.org/drawingml/2006/table">
            <a:tbl>
              <a:tblPr firstRow="0" bandRow="0"/>
              <a:tblGrid>
                <a:gridCol w="5334000"/>
                <a:gridCol w="2714625"/>
                <a:gridCol w="2714625"/>
              </a:tblGrid>
              <a:tr h="552450">
                <a:tc>
                  <a:txBody>
                    <a:bodyPr/>
                    <a:lstStyle/>
                    <a:p>
                      <a:r>
                        <a:rPr sz="1950" b="1">
                          <a:solidFill>
                            <a:srgbClr val="656258"/>
                          </a:solidFill>
                          <a:latin typeface="DM Sans"/>
                          <a:ea typeface="DM Sans"/>
                          <a:cs typeface="DM Sans"/>
                        </a:rPr>
                        <a:t>Model</a:t>
                      </a:r>
                    </a:p>
                  </a:txBody>
                  <a:tcPr marL="114300" marR="114300" marT="95250" marB="95250" anchor="ctr">
                    <a:solidFill>
                      <a:srgbClr val="F1E8D5"/>
                    </a:solidFill>
                  </a:tcPr>
                </a:tc>
                <a:tc>
                  <a:txBody>
                    <a:bodyPr/>
                    <a:lstStyle/>
                    <a:p>
                      <a:r>
                        <a:rPr sz="1950" b="1">
                          <a:solidFill>
                            <a:srgbClr val="656258"/>
                          </a:solidFill>
                          <a:latin typeface="DM Sans"/>
                          <a:ea typeface="DM Sans"/>
                          <a:cs typeface="DM Sans"/>
                        </a:rPr>
                        <a:t>Random RMSE</a:t>
                      </a:r>
                    </a:p>
                  </a:txBody>
                  <a:tcPr marL="114300" marR="114300" marT="95250" marB="95250" anchor="ctr">
                    <a:solidFill>
                      <a:srgbClr val="F1E8D5"/>
                    </a:solidFill>
                  </a:tcPr>
                </a:tc>
                <a:tc>
                  <a:txBody>
                    <a:bodyPr/>
                    <a:lstStyle/>
                    <a:p>
                      <a:r>
                        <a:rPr sz="1950" b="1">
                          <a:solidFill>
                            <a:srgbClr val="656258"/>
                          </a:solidFill>
                          <a:latin typeface="DM Sans"/>
                          <a:ea typeface="DM Sans"/>
                          <a:cs typeface="DM Sans"/>
                        </a:rPr>
                        <a:t>Future RMSE</a:t>
                      </a:r>
                    </a:p>
                  </a:txBody>
                  <a:tcPr marL="114300" marR="114300" marT="95250" marB="95250" anchor="ctr">
                    <a:solidFill>
                      <a:srgbClr val="F1E8D5"/>
                    </a:solidFill>
                  </a:tcPr>
                </a:tc>
              </a:tr>
              <a:tr h="552450">
                <a:tc>
                  <a:txBody>
                    <a:bodyPr/>
                    <a:lstStyle/>
                    <a:p>
                      <a:r>
                        <a:rPr sz="1950">
                          <a:solidFill>
                            <a:srgbClr val="24231E"/>
                          </a:solidFill>
                          <a:latin typeface="DM Sans"/>
                          <a:ea typeface="DM Sans"/>
                          <a:cs typeface="DM Sans"/>
                        </a:rPr>
                        <a:t>Training mean</a:t>
                      </a:r>
                    </a:p>
                  </a:txBody>
                  <a:tcPr marL="114300" marR="114300" marT="95250" marB="95250" anchor="ctr">
                    <a:solidFill>
                      <a:srgbClr val="F1E8D5"/>
                    </a:solidFill>
                  </a:tcPr>
                </a:tc>
                <a:tc>
                  <a:txBody>
                    <a:bodyPr/>
                    <a:lstStyle/>
                    <a:p>
                      <a:r>
                        <a:rPr sz="1950">
                          <a:solidFill>
                            <a:srgbClr val="24231E"/>
                          </a:solidFill>
                          <a:latin typeface="DM Sans"/>
                          <a:ea typeface="DM Sans"/>
                          <a:cs typeface="DM Sans"/>
                        </a:rPr>
                        <a:t>1.1237</a:t>
                      </a:r>
                    </a:p>
                  </a:txBody>
                  <a:tcPr marL="114300" marR="114300" marT="95250" marB="95250" anchor="ctr">
                    <a:solidFill>
                      <a:srgbClr val="F1E8D5"/>
                    </a:solidFill>
                  </a:tcPr>
                </a:tc>
                <a:tc>
                  <a:txBody>
                    <a:bodyPr/>
                    <a:lstStyle/>
                    <a:p>
                      <a:r>
                        <a:rPr sz="1950">
                          <a:solidFill>
                            <a:srgbClr val="24231E"/>
                          </a:solidFill>
                          <a:latin typeface="DM Sans"/>
                          <a:ea typeface="DM Sans"/>
                          <a:cs typeface="DM Sans"/>
                        </a:rPr>
                        <a:t>1.0893</a:t>
                      </a:r>
                    </a:p>
                  </a:txBody>
                  <a:tcPr marL="114300" marR="114300" marT="95250" marB="95250" anchor="ctr">
                    <a:solidFill>
                      <a:srgbClr val="F1E8D5"/>
                    </a:solidFill>
                  </a:tcPr>
                </a:tc>
              </a:tr>
              <a:tr h="552450">
                <a:tc>
                  <a:txBody>
                    <a:bodyPr/>
                    <a:lstStyle/>
                    <a:p>
                      <a:r>
                        <a:rPr sz="1950">
                          <a:solidFill>
                            <a:srgbClr val="24231E"/>
                          </a:solidFill>
                          <a:latin typeface="DM Sans"/>
                          <a:ea typeface="DM Sans"/>
                          <a:cs typeface="DM Sans"/>
                        </a:rPr>
                        <a:t>Collaborative filtering</a:t>
                      </a:r>
                    </a:p>
                  </a:txBody>
                  <a:tcPr marL="114300" marR="114300" marT="95250" marB="95250" anchor="ctr">
                    <a:solidFill>
                      <a:srgbClr val="F1E8D5"/>
                    </a:solidFill>
                  </a:tcPr>
                </a:tc>
                <a:tc>
                  <a:txBody>
                    <a:bodyPr/>
                    <a:lstStyle/>
                    <a:p>
                      <a:r>
                        <a:rPr sz="1950">
                          <a:solidFill>
                            <a:srgbClr val="24231E"/>
                          </a:solidFill>
                          <a:latin typeface="DM Sans"/>
                          <a:ea typeface="DM Sans"/>
                          <a:cs typeface="DM Sans"/>
                        </a:rPr>
                        <a:t>0.9198</a:t>
                      </a:r>
                    </a:p>
                  </a:txBody>
                  <a:tcPr marL="114300" marR="114300" marT="95250" marB="95250" anchor="ctr">
                    <a:solidFill>
                      <a:srgbClr val="F1E8D5"/>
                    </a:solidFill>
                  </a:tcPr>
                </a:tc>
                <a:tc>
                  <a:txBody>
                    <a:bodyPr/>
                    <a:lstStyle/>
                    <a:p>
                      <a:r>
                        <a:rPr sz="1950">
                          <a:solidFill>
                            <a:srgbClr val="24231E"/>
                          </a:solidFill>
                          <a:latin typeface="DM Sans"/>
                          <a:ea typeface="DM Sans"/>
                          <a:cs typeface="DM Sans"/>
                        </a:rPr>
                        <a:t>1.2246</a:t>
                      </a:r>
                    </a:p>
                  </a:txBody>
                  <a:tcPr marL="114300" marR="114300" marT="95250" marB="95250" anchor="ctr">
                    <a:solidFill>
                      <a:srgbClr val="F1E8D5"/>
                    </a:solidFill>
                  </a:tcPr>
                </a:tc>
              </a:tr>
              <a:tr h="552450">
                <a:tc>
                  <a:txBody>
                    <a:bodyPr/>
                    <a:lstStyle/>
                    <a:p>
                      <a:r>
                        <a:rPr sz="1950">
                          <a:solidFill>
                            <a:srgbClr val="24231E"/>
                          </a:solidFill>
                          <a:latin typeface="DM Sans"/>
                          <a:ea typeface="DM Sans"/>
                          <a:cs typeface="DM Sans"/>
                        </a:rPr>
                        <a:t>CF + metadata</a:t>
                      </a:r>
                    </a:p>
                  </a:txBody>
                  <a:tcPr marL="114300" marR="114300" marT="95250" marB="95250" anchor="ctr">
                    <a:solidFill>
                      <a:srgbClr val="F1E8D5"/>
                    </a:solidFill>
                  </a:tcPr>
                </a:tc>
                <a:tc>
                  <a:txBody>
                    <a:bodyPr/>
                    <a:lstStyle/>
                    <a:p>
                      <a:r>
                        <a:rPr sz="1950">
                          <a:solidFill>
                            <a:srgbClr val="24231E"/>
                          </a:solidFill>
                          <a:latin typeface="DM Sans"/>
                          <a:ea typeface="DM Sans"/>
                          <a:cs typeface="DM Sans"/>
                        </a:rPr>
                        <a:t>0.8990</a:t>
                      </a:r>
                    </a:p>
                  </a:txBody>
                  <a:tcPr marL="114300" marR="114300" marT="95250" marB="95250" anchor="ctr">
                    <a:solidFill>
                      <a:srgbClr val="F1E8D5"/>
                    </a:solidFill>
                  </a:tcPr>
                </a:tc>
                <a:tc>
                  <a:txBody>
                    <a:bodyPr/>
                    <a:lstStyle/>
                    <a:p>
                      <a:r>
                        <a:rPr sz="1950">
                          <a:solidFill>
                            <a:srgbClr val="24231E"/>
                          </a:solidFill>
                          <a:latin typeface="DM Sans"/>
                          <a:ea typeface="DM Sans"/>
                          <a:cs typeface="DM Sans"/>
                        </a:rPr>
                        <a:t>1.0303</a:t>
                      </a:r>
                    </a:p>
                  </a:txBody>
                  <a:tcPr marL="114300" marR="114300" marT="95250" marB="95250" anchor="ctr">
                    <a:solidFill>
                      <a:srgbClr val="F1E8D5"/>
                    </a:solidFill>
                  </a:tcPr>
                </a:tc>
              </a:tr>
              <a:tr h="552450">
                <a:tc>
                  <a:txBody>
                    <a:bodyPr/>
                    <a:lstStyle/>
                    <a:p>
                      <a:r>
                        <a:rPr sz="1950" b="1">
                          <a:solidFill>
                            <a:srgbClr val="E46242"/>
                          </a:solidFill>
                          <a:latin typeface="DM Sans"/>
                          <a:ea typeface="DM Sans"/>
                          <a:cs typeface="DM Sans"/>
                        </a:rPr>
                        <a:t>CF + metadata + timestamp</a:t>
                      </a:r>
                    </a:p>
                  </a:txBody>
                  <a:tcPr marL="114300" marR="114300" marT="95250" marB="95250" anchor="ctr">
                    <a:solidFill>
                      <a:srgbClr val="F1E8D5"/>
                    </a:solidFill>
                  </a:tcPr>
                </a:tc>
                <a:tc>
                  <a:txBody>
                    <a:bodyPr/>
                    <a:lstStyle/>
                    <a:p>
                      <a:r>
                        <a:rPr sz="1950" b="1">
                          <a:solidFill>
                            <a:srgbClr val="E46242"/>
                          </a:solidFill>
                          <a:latin typeface="DM Sans"/>
                          <a:ea typeface="DM Sans"/>
                          <a:cs typeface="DM Sans"/>
                        </a:rPr>
                        <a:t>0.8940</a:t>
                      </a:r>
                    </a:p>
                  </a:txBody>
                  <a:tcPr marL="114300" marR="114300" marT="95250" marB="95250" anchor="ctr">
                    <a:solidFill>
                      <a:srgbClr val="F1E8D5"/>
                    </a:solidFill>
                  </a:tcPr>
                </a:tc>
                <a:tc>
                  <a:txBody>
                    <a:bodyPr/>
                    <a:lstStyle/>
                    <a:p>
                      <a:r>
                        <a:rPr sz="1950" b="1">
                          <a:solidFill>
                            <a:srgbClr val="E46242"/>
                          </a:solidFill>
                          <a:latin typeface="DM Sans"/>
                          <a:ea typeface="DM Sans"/>
                          <a:cs typeface="DM Sans"/>
                        </a:rPr>
                        <a:t>1.0001</a:t>
                      </a:r>
                    </a:p>
                  </a:txBody>
                  <a:tcPr marL="114300" marR="114300" marT="95250" marB="95250" anchor="ctr">
                    <a:solidFill>
                      <a:srgbClr val="F1E8D5"/>
                    </a:solidFill>
                  </a:tcPr>
                </a:tc>
              </a:tr>
            </a:tbl>
          </a:graphicData>
        </a:graphic>
      </p:graphicFrame>
      <p:sp>
        <p:nvSpPr>
          <p:cNvPr id="15" name="">
            <a:extLst xmlns:a="http://schemas.openxmlformats.org/drawingml/2006/main">
              <a:ext uri="{FF2B5EF4-FFF2-40B4-BE49-F238E27FC236}">
                <a16:creationId xmlns:a16="http://schemas.microsoft.com/office/drawing/2014/main" id="{29B4329A-E3CD-4DEE-AB01-0778C9F5D6AD}"/>
              </a:ext>
            </a:extLst>
          </p:cNvPr>
          <p:cNvSpPr>
            <a:spLocks xmlns:a="http://schemas.openxmlformats.org/drawingml/2006/main" noGrp="1"/>
          </p:cNvSpPr>
          <p:nvPr/>
        </p:nvSpPr>
        <p:spPr>
          <a:xfrm xmlns:a="http://schemas.openxmlformats.org/drawingml/2006/main">
            <a:off x="714375" y="5629275"/>
            <a:ext cx="10715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231E"/>
                </a:solidFill>
                <a:latin typeface="DM Sans"/>
                <a:ea typeface="DM Sans"/>
                <a:cs typeface="DM Sans"/>
              </a:defRPr>
            </a:pPr>
            <a:r>
              <a:rPr sz="2025" b="0">
                <a:solidFill>
                  <a:srgbClr val="24231E"/>
                </a:solidFill>
                <a:latin typeface="DM Sans"/>
                <a:ea typeface="DM Sans"/>
                <a:cs typeface="DM Sans"/>
              </a:rPr>
              <a:t>Timestamp increment vs. metadata: 0.0050 random / 0.0302 future</a:t>
            </a:r>
          </a:p>
        </p:txBody>
      </p:sp>
      <p:sp>
        <p:nvSpPr>
          <p:cNvPr id="16" name="">
            <a:extLst xmlns:a="http://schemas.openxmlformats.org/drawingml/2006/main">
              <a:ext uri="{FF2B5EF4-FFF2-40B4-BE49-F238E27FC236}">
                <a16:creationId xmlns:a16="http://schemas.microsoft.com/office/drawing/2014/main" id="{79BDF9C6-4895-4A68-B676-6A0C48D1BF04}"/>
              </a:ext>
            </a:extLst>
          </p:cNvPr>
          <p:cNvSpPr>
            <a:spLocks xmlns:a="http://schemas.openxmlformats.org/drawingml/2006/main" noGrp="1"/>
          </p:cNvSpPr>
          <p:nvPr/>
        </p:nvSpPr>
        <p:spPr>
          <a:xfrm xmlns:a="http://schemas.openxmlformats.org/drawingml/2006/main">
            <a:off x="714375" y="63341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258"/>
                </a:solidFill>
                <a:latin typeface="DM Sans"/>
                <a:ea typeface="DM Sans"/>
                <a:cs typeface="DM Sans"/>
              </a:defRPr>
            </a:pPr>
            <a:r>
              <a:rPr sz="1200" b="0">
                <a:solidFill>
                  <a:srgbClr val="656258"/>
                </a:solidFill>
                <a:latin typeface="DM Sans"/>
                <a:ea typeface="DM Sans"/>
                <a:cs typeface="DM Sans"/>
              </a:rPr>
              <a:t>RMSE in rating points. Same holdout within each column. Columns cover different populations.</a:t>
            </a:r>
          </a:p>
        </p:txBody>
      </p:sp>
    </p:spTree>
    <p:extLst>
      <p:ext uri="{BB962C8B-B14F-4D97-AF65-F5344CB8AC3E}">
        <p14:creationId xmlns:p14="http://schemas.microsoft.com/office/powerpoint/2010/main" val="471108675"/>
      </p:ext>
    </p:extLst>
  </p:cSld>
</p:sld>
</file>

<file path=ppt/slides/slide6.xml><?xml version="1.0" encoding="utf-8"?>
<p:sld xmlns:p="http://schemas.openxmlformats.org/presentationml/2006/main">
  <p:cSld>
    <p:bg>
      <p:bgPr>
        <a:solidFill xmlns:a="http://schemas.openxmlformats.org/drawingml/2006/main">
          <a:srgbClr val="17171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10AD4CC-0412-4C6C-A51B-2E3989646F3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4624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F0F8DC-6026-497E-A277-8627C26BAB86}"/>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DB8AD"/>
                </a:solidFill>
                <a:latin typeface="DM Sans"/>
                <a:ea typeface="DM Sans"/>
                <a:cs typeface="DM Sans"/>
              </a:defRPr>
            </a:pPr>
            <a:r>
              <a:rPr sz="1350" b="0">
                <a:solidFill>
                  <a:srgbClr val="BDB8AD"/>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BE07FE5C-E596-432D-8922-378E80436D69}"/>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DB8AD"/>
                </a:solidFill>
                <a:latin typeface="DM Sans"/>
                <a:ea typeface="DM Sans"/>
                <a:cs typeface="DM Sans"/>
              </a:defRPr>
            </a:pPr>
            <a:r>
              <a:rPr sz="1275" b="0">
                <a:solidFill>
                  <a:srgbClr val="BDB8AD"/>
                </a:solidFill>
                <a:latin typeface="DM Sans"/>
                <a:ea typeface="DM Sans"/>
                <a:cs typeface="DM Sans"/>
              </a:rPr>
              <a:t>ROBUSTNESS</a:t>
            </a:r>
          </a:p>
        </p:txBody>
      </p:sp>
      <p:sp>
        <p:nvSpPr>
          <p:cNvPr id="4" name="">
            <a:extLst xmlns:a="http://schemas.openxmlformats.org/drawingml/2006/main">
              <a:ext uri="{FF2B5EF4-FFF2-40B4-BE49-F238E27FC236}">
                <a16:creationId xmlns:a16="http://schemas.microsoft.com/office/drawing/2014/main" id="{551A7535-05A4-49C3-893B-856D34A6D538}"/>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5551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1301C2-4D1E-436B-A1D1-1BB28C1B1617}"/>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0">
                <a:solidFill>
                  <a:srgbClr val="F1E8D5"/>
                </a:solidFill>
                <a:latin typeface="Bebas Neue"/>
                <a:ea typeface="Bebas Neue"/>
                <a:cs typeface="Bebas Neue"/>
              </a:defRPr>
            </a:pPr>
            <a:r>
              <a:rPr sz="4800" b="0">
                <a:solidFill>
                  <a:srgbClr val="F1E8D5"/>
                </a:solidFill>
                <a:latin typeface="Bebas Neue"/>
                <a:ea typeface="Bebas Neue"/>
                <a:cs typeface="Bebas Neue"/>
              </a:rPr>
              <a:t>Timestamp features and evaluation limits</a:t>
            </a:r>
          </a:p>
        </p:txBody>
      </p:sp>
      <p:sp>
        <p:nvSpPr>
          <p:cNvPr id="6" name="">
            <a:extLst xmlns:a="http://schemas.openxmlformats.org/drawingml/2006/main">
              <a:ext uri="{FF2B5EF4-FFF2-40B4-BE49-F238E27FC236}">
                <a16:creationId xmlns:a16="http://schemas.microsoft.com/office/drawing/2014/main" id="{F5A5AB6C-7B45-4B54-B28B-A7B075DE483D}"/>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DB8AD"/>
                </a:solidFill>
                <a:latin typeface="DM Sans"/>
                <a:ea typeface="DM Sans"/>
                <a:cs typeface="DM Sans"/>
              </a:defRPr>
            </a:pPr>
            <a:r>
              <a:rPr sz="1275" b="0">
                <a:solidFill>
                  <a:srgbClr val="BDB8AD"/>
                </a:solidFill>
                <a:latin typeface="DM Sans"/>
                <a:ea typeface="DM Sans"/>
                <a:cs typeface="DM Sans"/>
              </a:rPr>
              <a:t>06</a:t>
            </a:r>
          </a:p>
        </p:txBody>
      </p:sp>
      <p:sp>
        <p:nvSpPr>
          <p:cNvPr id="18" name="">
            <a:extLst xmlns:a="http://schemas.openxmlformats.org/drawingml/2006/main">
              <a:ext uri="{FF2B5EF4-FFF2-40B4-BE49-F238E27FC236}">
                <a16:creationId xmlns:a16="http://schemas.microsoft.com/office/drawing/2014/main" id="{BA37AF3B-078C-4223-8FD0-AD8E62792070}"/>
              </a:ext>
            </a:extLst>
          </p:cNvPr>
          <p:cNvSpPr>
            <a:spLocks xmlns:a="http://schemas.openxmlformats.org/drawingml/2006/main" noGrp="1"/>
          </p:cNvSpPr>
          <p:nvPr/>
        </p:nvSpPr>
        <p:spPr>
          <a:xfrm xmlns:a="http://schemas.openxmlformats.org/drawingml/2006/main">
            <a:off x="714375" y="2238375"/>
            <a:ext cx="1076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E8D5"/>
                </a:solidFill>
                <a:latin typeface="DM Sans"/>
                <a:ea typeface="DM Sans"/>
                <a:cs typeface="DM Sans"/>
              </a:defRPr>
            </a:pPr>
            <a:r>
              <a:rPr sz="2025" b="0">
                <a:solidFill>
                  <a:srgbClr val="F1E8D5"/>
                </a:solidFill>
                <a:latin typeface="DM Sans"/>
                <a:ea typeface="DM Sans"/>
                <a:cs typeface="DM Sans"/>
              </a:rPr>
              <a:t>UTC calendar, elapsed days, and counts/gaps from earlier ratings.</a:t>
            </a:r>
          </a:p>
          <a:p xmlns:a="http://schemas.openxmlformats.org/drawingml/2006/main">
            <a:pPr>
              <a:defRPr sz="2025" b="0">
                <a:solidFill>
                  <a:srgbClr val="F1E8D5"/>
                </a:solidFill>
                <a:latin typeface="DM Sans"/>
                <a:ea typeface="DM Sans"/>
                <a:cs typeface="DM Sans"/>
              </a:defRPr>
            </a:pPr>
            <a:r>
              <a:rPr sz="2025" b="0">
                <a:solidFill>
                  <a:srgbClr val="F1E8D5"/>
                </a:solidFill>
                <a:latin typeface="DM Sans"/>
                <a:ea typeface="DM Sans"/>
                <a:cs typeface="DM Sans"/>
              </a:rPr>
              <a:t>Frozen fitted history. Equal-second entries excluded.</a:t>
            </a:r>
          </a:p>
        </p:txBody>
      </p:sp>
      <p:graphicFrame>
        <p:nvGraphicFramePr>
          <p:cNvPr id="29" name=""/>
          <p:cNvGraphicFramePr/>
          <p:nvPr/>
        </p:nvGraphicFramePr>
        <p:xfrm>
          <a:off xmlns:a="http://schemas.openxmlformats.org/drawingml/2006/main" x="714375" y="3533775"/>
          <a:ext xmlns:a="http://schemas.openxmlformats.org/drawingml/2006/main" cx="10763250" cy="1733550"/>
        </p:xfrm>
        <a:graphic xmlns:a="http://schemas.openxmlformats.org/drawingml/2006/main">
          <a:graphicData uri="http://schemas.openxmlformats.org/drawingml/2006/table">
            <a:tbl>
              <a:tblPr firstRow="0" bandRow="0"/>
              <a:tblGrid>
                <a:gridCol w="4333875"/>
                <a:gridCol w="2619375"/>
                <a:gridCol w="3810000"/>
              </a:tblGrid>
              <a:tr h="552450">
                <a:tc>
                  <a:txBody>
                    <a:bodyPr/>
                    <a:lstStyle/>
                    <a:p>
                      <a:r>
                        <a:rPr sz="1875" b="1">
                          <a:solidFill>
                            <a:srgbClr val="BDB8AD"/>
                          </a:solidFill>
                          <a:latin typeface="DM Sans"/>
                          <a:ea typeface="DM Sans"/>
                          <a:cs typeface="DM Sans"/>
                        </a:rPr>
                        <a:t>Timestamp vs. metadata</a:t>
                      </a:r>
                    </a:p>
                  </a:txBody>
                  <a:tcPr marL="114300" marR="114300" marT="95250" marB="95250" anchor="ctr">
                    <a:solidFill>
                      <a:srgbClr val="171714"/>
                    </a:solidFill>
                  </a:tcPr>
                </a:tc>
                <a:tc>
                  <a:txBody>
                    <a:bodyPr/>
                    <a:lstStyle/>
                    <a:p>
                      <a:r>
                        <a:rPr sz="1875" b="1">
                          <a:solidFill>
                            <a:srgbClr val="BDB8AD"/>
                          </a:solidFill>
                          <a:latin typeface="DM Sans"/>
                          <a:ea typeface="DM Sans"/>
                          <a:cs typeface="DM Sans"/>
                        </a:rPr>
                        <a:t>RMSE reduction</a:t>
                      </a:r>
                    </a:p>
                  </a:txBody>
                  <a:tcPr marL="114300" marR="114300" marT="95250" marB="95250" anchor="ctr">
                    <a:solidFill>
                      <a:srgbClr val="171714"/>
                    </a:solidFill>
                  </a:tcPr>
                </a:tc>
                <a:tc>
                  <a:txBody>
                    <a:bodyPr/>
                    <a:lstStyle/>
                    <a:p>
                      <a:r>
                        <a:rPr sz="1875" b="1">
                          <a:solidFill>
                            <a:srgbClr val="BDB8AD"/>
                          </a:solidFill>
                          <a:latin typeface="DM Sans"/>
                          <a:ea typeface="DM Sans"/>
                          <a:cs typeface="DM Sans"/>
                        </a:rPr>
                        <a:t>Paired 95% interval</a:t>
                      </a:r>
                    </a:p>
                  </a:txBody>
                  <a:tcPr marL="114300" marR="114300" marT="95250" marB="95250" anchor="ctr">
                    <a:solidFill>
                      <a:srgbClr val="171714"/>
                    </a:solidFill>
                  </a:tcPr>
                </a:tc>
              </a:tr>
              <a:tr h="590550">
                <a:tc>
                  <a:txBody>
                    <a:bodyPr/>
                    <a:lstStyle/>
                    <a:p>
                      <a:r>
                        <a:rPr sz="1875">
                          <a:solidFill>
                            <a:srgbClr val="F1E8D5"/>
                          </a:solidFill>
                          <a:latin typeface="DM Sans"/>
                          <a:ea typeface="DM Sans"/>
                          <a:cs typeface="DM Sans"/>
                        </a:rPr>
                        <a:t>Random</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0.0050</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[0.0031, 0.0069]</a:t>
                      </a:r>
                    </a:p>
                  </a:txBody>
                  <a:tcPr marL="114300" marR="114300" marT="95250" marB="95250" anchor="ctr">
                    <a:solidFill>
                      <a:srgbClr val="171714"/>
                    </a:solidFill>
                  </a:tcPr>
                </a:tc>
              </a:tr>
              <a:tr h="590550">
                <a:tc>
                  <a:txBody>
                    <a:bodyPr/>
                    <a:lstStyle/>
                    <a:p>
                      <a:r>
                        <a:rPr sz="1875">
                          <a:solidFill>
                            <a:srgbClr val="F1E8D5"/>
                          </a:solidFill>
                          <a:latin typeface="DM Sans"/>
                          <a:ea typeface="DM Sans"/>
                          <a:cs typeface="DM Sans"/>
                        </a:rPr>
                        <a:t>Future</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0.0302</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[0.0111, 0.0504]</a:t>
                      </a:r>
                    </a:p>
                  </a:txBody>
                  <a:tcPr marL="114300" marR="114300" marT="95250" marB="95250" anchor="ctr">
                    <a:solidFill>
                      <a:srgbClr val="171714"/>
                    </a:solidFill>
                  </a:tcPr>
                </a:tc>
              </a:tr>
            </a:tbl>
          </a:graphicData>
        </a:graphic>
      </p:graphicFrame>
      <p:sp>
        <p:nvSpPr>
          <p:cNvPr id="20" name="">
            <a:extLst xmlns:a="http://schemas.openxmlformats.org/drawingml/2006/main">
              <a:ext uri="{FF2B5EF4-FFF2-40B4-BE49-F238E27FC236}">
                <a16:creationId xmlns:a16="http://schemas.microsoft.com/office/drawing/2014/main" id="{4FC1CC2A-5903-4F51-8839-CFAA28C2DEB0}"/>
              </a:ext>
            </a:extLst>
          </p:cNvPr>
          <p:cNvSpPr>
            <a:spLocks xmlns:a="http://schemas.openxmlformats.org/drawingml/2006/main" noGrp="1"/>
          </p:cNvSpPr>
          <p:nvPr/>
        </p:nvSpPr>
        <p:spPr>
          <a:xfrm xmlns:a="http://schemas.openxmlformats.org/drawingml/2006/main">
            <a:off x="714375" y="551497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DB8AD"/>
                </a:solidFill>
                <a:latin typeface="DM Sans"/>
                <a:ea typeface="DM Sans"/>
                <a:cs typeface="DM Sans"/>
              </a:defRPr>
            </a:pPr>
            <a:r>
              <a:rPr sz="1875" b="0">
                <a:solidFill>
                  <a:srgbClr val="BDB8AD"/>
                </a:solidFill>
                <a:latin typeface="DM Sans"/>
                <a:ea typeface="DM Sans"/>
                <a:cs typeface="DM Sans"/>
              </a:rPr>
              <a:t>Warm ratings: 23.84% in validation / 95.70% in final test.</a:t>
            </a:r>
          </a:p>
          <a:p xmlns:a="http://schemas.openxmlformats.org/drawingml/2006/main">
            <a:pPr>
              <a:defRPr sz="1875" b="0">
                <a:solidFill>
                  <a:srgbClr val="BDB8AD"/>
                </a:solidFill>
                <a:latin typeface="DM Sans"/>
                <a:ea typeface="DM Sans"/>
                <a:cs typeface="DM Sans"/>
              </a:defRPr>
            </a:pPr>
            <a:r>
              <a:rPr sz="1875" b="0">
                <a:solidFill>
                  <a:srgbClr val="BDB8AD"/>
                </a:solidFill>
                <a:latin typeface="DM Sans"/>
                <a:ea typeface="DM Sans"/>
                <a:cs typeface="DM Sans"/>
              </a:rPr>
              <a:t>This cohort change limits transfer of selected parameters.</a:t>
            </a:r>
          </a:p>
        </p:txBody>
      </p:sp>
      <p:sp>
        <p:nvSpPr>
          <p:cNvPr id="21" name="">
            <a:extLst xmlns:a="http://schemas.openxmlformats.org/drawingml/2006/main">
              <a:ext uri="{FF2B5EF4-FFF2-40B4-BE49-F238E27FC236}">
                <a16:creationId xmlns:a16="http://schemas.microsoft.com/office/drawing/2014/main" id="{562FE090-5355-4484-A791-50D4E0D49F68}"/>
              </a:ext>
            </a:extLst>
          </p:cNvPr>
          <p:cNvSpPr>
            <a:spLocks xmlns:a="http://schemas.openxmlformats.org/drawingml/2006/main" noGrp="1"/>
          </p:cNvSpPr>
          <p:nvPr/>
        </p:nvSpPr>
        <p:spPr>
          <a:xfrm xmlns:a="http://schemas.openxmlformats.org/drawingml/2006/main">
            <a:off x="714375" y="63341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DB8AD"/>
                </a:solidFill>
                <a:latin typeface="DM Sans"/>
                <a:ea typeface="DM Sans"/>
                <a:cs typeface="DM Sans"/>
              </a:defRPr>
            </a:pPr>
            <a:r>
              <a:rPr sz="1200" b="0">
                <a:solidFill>
                  <a:srgbClr val="BDB8AD"/>
                </a:solidFill>
                <a:latin typeface="DM Sans"/>
                <a:ea typeface="DM Sans"/>
                <a:cs typeface="DM Sans"/>
              </a:rPr>
              <a:t>Intervals condition on this split and selection. Future CF is worse than training mean.</a:t>
            </a:r>
          </a:p>
        </p:txBody>
      </p:sp>
    </p:spTree>
    <p:extLst>
      <p:ext uri="{BB962C8B-B14F-4D97-AF65-F5344CB8AC3E}">
        <p14:creationId xmlns:p14="http://schemas.microsoft.com/office/powerpoint/2010/main" val="519814442"/>
      </p:ext>
    </p:extLst>
  </p:cSld>
</p:sld>
</file>

<file path=ppt/slides/slide7.xml><?xml version="1.0" encoding="utf-8"?>
<p:sld xmlns:p="http://schemas.openxmlformats.org/presentationml/2006/main">
  <p:cSld>
    <p:bg>
      <p:bgPr>
        <a:solidFill xmlns:a="http://schemas.openxmlformats.org/drawingml/2006/main">
          <a:srgbClr val="F1E8D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166F9C4-1922-4B11-88F9-74A88344322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BF492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5D1A28-7F28-47C1-832B-558E18A1E14A}"/>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56258"/>
                </a:solidFill>
                <a:latin typeface="DM Sans"/>
                <a:ea typeface="DM Sans"/>
                <a:cs typeface="DM Sans"/>
              </a:defRPr>
            </a:pPr>
            <a:r>
              <a:rPr sz="1350" b="0">
                <a:solidFill>
                  <a:srgbClr val="656258"/>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7F272B6D-0478-4C11-9DD8-D81426B0A580}"/>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BUSINESS APPLICATION</a:t>
            </a:r>
          </a:p>
        </p:txBody>
      </p:sp>
      <p:sp>
        <p:nvSpPr>
          <p:cNvPr id="4" name="">
            <a:extLst xmlns:a="http://schemas.openxmlformats.org/drawingml/2006/main">
              <a:ext uri="{FF2B5EF4-FFF2-40B4-BE49-F238E27FC236}">
                <a16:creationId xmlns:a16="http://schemas.microsoft.com/office/drawing/2014/main" id="{2E82FA50-1E1F-42CB-82E6-90766ACDC2EC}"/>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D2C8B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7E61E85-6677-4B52-B3DD-589D7141CF9B}"/>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0">
                <a:solidFill>
                  <a:srgbClr val="24231E"/>
                </a:solidFill>
                <a:latin typeface="Bebas Neue"/>
                <a:ea typeface="Bebas Neue"/>
                <a:cs typeface="Bebas Neue"/>
              </a:defRPr>
            </a:pPr>
            <a:r>
              <a:rPr sz="4800" b="0">
                <a:solidFill>
                  <a:srgbClr val="24231E"/>
                </a:solidFill>
                <a:latin typeface="Bebas Neue"/>
                <a:ea typeface="Bebas Neue"/>
                <a:cs typeface="Bebas Neue"/>
              </a:rPr>
              <a:t>Further checks before a business pilot</a:t>
            </a:r>
          </a:p>
        </p:txBody>
      </p:sp>
      <p:sp>
        <p:nvSpPr>
          <p:cNvPr id="6" name="">
            <a:extLst xmlns:a="http://schemas.openxmlformats.org/drawingml/2006/main">
              <a:ext uri="{FF2B5EF4-FFF2-40B4-BE49-F238E27FC236}">
                <a16:creationId xmlns:a16="http://schemas.microsoft.com/office/drawing/2014/main" id="{AB30A743-ADD7-4CB9-A744-2C351F440207}"/>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07</a:t>
            </a:r>
          </a:p>
        </p:txBody>
      </p:sp>
      <p:sp>
        <p:nvSpPr>
          <p:cNvPr id="21" name="">
            <a:extLst xmlns:a="http://schemas.openxmlformats.org/drawingml/2006/main">
              <a:ext uri="{FF2B5EF4-FFF2-40B4-BE49-F238E27FC236}">
                <a16:creationId xmlns:a16="http://schemas.microsoft.com/office/drawing/2014/main" id="{EF7E1F85-CFA8-49C5-B92D-9568098672DB}"/>
              </a:ext>
            </a:extLst>
          </p:cNvPr>
          <p:cNvSpPr>
            <a:spLocks xmlns:a="http://schemas.openxmlformats.org/drawingml/2006/main" noGrp="1"/>
          </p:cNvSpPr>
          <p:nvPr/>
        </p:nvSpPr>
        <p:spPr>
          <a:xfrm xmlns:a="http://schemas.openxmlformats.org/drawingml/2006/main">
            <a:off x="714375" y="2286000"/>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0">
                <a:solidFill>
                  <a:srgbClr val="E46242"/>
                </a:solidFill>
                <a:latin typeface="Bebas Neue"/>
                <a:ea typeface="Bebas Neue"/>
                <a:cs typeface="Bebas Neue"/>
              </a:defRPr>
            </a:pPr>
            <a:r>
              <a:rPr sz="6300" b="0">
                <a:solidFill>
                  <a:srgbClr val="E46242"/>
                </a:solidFill>
                <a:latin typeface="Bebas Neue"/>
                <a:ea typeface="Bebas Neue"/>
                <a:cs typeface="Bebas Neue"/>
              </a:rPr>
              <a:t>MOVIE</a:t>
            </a:r>
          </a:p>
        </p:txBody>
      </p:sp>
      <p:sp>
        <p:nvSpPr>
          <p:cNvPr id="22" name="">
            <a:extLst xmlns:a="http://schemas.openxmlformats.org/drawingml/2006/main">
              <a:ext uri="{FF2B5EF4-FFF2-40B4-BE49-F238E27FC236}">
                <a16:creationId xmlns:a16="http://schemas.microsoft.com/office/drawing/2014/main" id="{2F2B40B7-BC0C-484F-AD5B-163FD09F8E22}"/>
              </a:ext>
            </a:extLst>
          </p:cNvPr>
          <p:cNvSpPr>
            <a:spLocks xmlns:a="http://schemas.openxmlformats.org/drawingml/2006/main" noGrp="1"/>
          </p:cNvSpPr>
          <p:nvPr/>
        </p:nvSpPr>
        <p:spPr>
          <a:xfrm xmlns:a="http://schemas.openxmlformats.org/drawingml/2006/main">
            <a:off x="714375" y="3267075"/>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0">
                <a:solidFill>
                  <a:srgbClr val="E46242"/>
                </a:solidFill>
                <a:latin typeface="Bebas Neue"/>
                <a:ea typeface="Bebas Neue"/>
                <a:cs typeface="Bebas Neue"/>
              </a:defRPr>
            </a:pPr>
            <a:r>
              <a:rPr sz="6300" b="0">
                <a:solidFill>
                  <a:srgbClr val="E46242"/>
                </a:solidFill>
                <a:latin typeface="Bebas Neue"/>
                <a:ea typeface="Bebas Neue"/>
                <a:cs typeface="Bebas Neue"/>
              </a:rPr>
              <a:t>STARTS</a:t>
            </a:r>
          </a:p>
        </p:txBody>
      </p:sp>
      <p:sp>
        <p:nvSpPr>
          <p:cNvPr id="23" name="">
            <a:extLst xmlns:a="http://schemas.openxmlformats.org/drawingml/2006/main">
              <a:ext uri="{FF2B5EF4-FFF2-40B4-BE49-F238E27FC236}">
                <a16:creationId xmlns:a16="http://schemas.microsoft.com/office/drawing/2014/main" id="{44A655D1-2A85-4E81-9C66-02CEDC1E8BFB}"/>
              </a:ext>
            </a:extLst>
          </p:cNvPr>
          <p:cNvSpPr>
            <a:spLocks xmlns:a="http://schemas.openxmlformats.org/drawingml/2006/main" noGrp="1"/>
          </p:cNvSpPr>
          <p:nvPr/>
        </p:nvSpPr>
        <p:spPr>
          <a:xfrm xmlns:a="http://schemas.openxmlformats.org/drawingml/2006/main">
            <a:off x="714375" y="4400550"/>
            <a:ext cx="5286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231E"/>
                </a:solidFill>
                <a:latin typeface="DM Sans"/>
                <a:ea typeface="DM Sans"/>
                <a:cs typeface="DM Sans"/>
              </a:defRPr>
            </a:pPr>
            <a:r>
              <a:rPr sz="2025" b="0">
                <a:solidFill>
                  <a:srgbClr val="24231E"/>
                </a:solidFill>
                <a:latin typeface="DM Sans"/>
                <a:ea typeface="DM Sans"/>
                <a:cs typeface="DM Sans"/>
              </a:rPr>
              <a:t>Proposed pilot measure:</a:t>
            </a:r>
          </a:p>
          <a:p xmlns:a="http://schemas.openxmlformats.org/drawingml/2006/main">
            <a:pPr>
              <a:defRPr sz="2025" b="0">
                <a:solidFill>
                  <a:srgbClr val="24231E"/>
                </a:solidFill>
                <a:latin typeface="DM Sans"/>
                <a:ea typeface="DM Sans"/>
                <a:cs typeface="DM Sans"/>
              </a:defRPr>
            </a:pPr>
            <a:r>
              <a:rPr sz="2025" b="0">
                <a:solidFill>
                  <a:srgbClr val="24231E"/>
                </a:solidFill>
                <a:latin typeface="DM Sans"/>
                <a:ea typeface="DM Sans"/>
                <a:cs typeface="DM Sans"/>
              </a:rPr>
              <a:t>recommendation-led starts</a:t>
            </a:r>
          </a:p>
          <a:p xmlns:a="http://schemas.openxmlformats.org/drawingml/2006/main">
            <a:pPr>
              <a:defRPr sz="2025" b="0">
                <a:solidFill>
                  <a:srgbClr val="24231E"/>
                </a:solidFill>
                <a:latin typeface="DM Sans"/>
                <a:ea typeface="DM Sans"/>
                <a:cs typeface="DM Sans"/>
              </a:defRPr>
            </a:pPr>
            <a:r>
              <a:rPr sz="2025" b="0">
                <a:solidFill>
                  <a:srgbClr val="24231E"/>
                </a:solidFill>
                <a:latin typeface="DM Sans"/>
                <a:ea typeface="DM Sans"/>
                <a:cs typeface="DM Sans"/>
              </a:rPr>
              <a:t>per exposed user.</a:t>
            </a:r>
          </a:p>
        </p:txBody>
      </p:sp>
      <p:sp>
        <p:nvSpPr>
          <p:cNvPr id="24" name="">
            <a:extLst xmlns:a="http://schemas.openxmlformats.org/drawingml/2006/main">
              <a:ext uri="{FF2B5EF4-FFF2-40B4-BE49-F238E27FC236}">
                <a16:creationId xmlns:a16="http://schemas.microsoft.com/office/drawing/2014/main" id="{4BD0AE04-A1A3-43EA-9D91-C5938B5C74EC}"/>
              </a:ext>
            </a:extLst>
          </p:cNvPr>
          <p:cNvSpPr>
            <a:spLocks xmlns:a="http://schemas.openxmlformats.org/drawingml/2006/main" noGrp="1"/>
          </p:cNvSpPr>
          <p:nvPr/>
        </p:nvSpPr>
        <p:spPr>
          <a:xfrm xmlns:a="http://schemas.openxmlformats.org/drawingml/2006/main">
            <a:off x="6734175" y="22955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231E"/>
                </a:solidFill>
                <a:latin typeface="DM Sans"/>
                <a:ea typeface="DM Sans"/>
                <a:cs typeface="DM Sans"/>
              </a:defRPr>
            </a:pPr>
            <a:r>
              <a:rPr sz="1800" b="1">
                <a:solidFill>
                  <a:srgbClr val="24231E"/>
                </a:solidFill>
                <a:latin typeface="DM Sans"/>
                <a:ea typeface="DM Sans"/>
                <a:cs typeface="DM Sans"/>
              </a:rPr>
              <a:t>Before a pilot</a:t>
            </a:r>
          </a:p>
        </p:txBody>
      </p:sp>
      <p:sp>
        <p:nvSpPr>
          <p:cNvPr id="25" name="">
            <a:extLst xmlns:a="http://schemas.openxmlformats.org/drawingml/2006/main">
              <a:ext uri="{FF2B5EF4-FFF2-40B4-BE49-F238E27FC236}">
                <a16:creationId xmlns:a16="http://schemas.microsoft.com/office/drawing/2014/main" id="{D699D88A-A37E-475A-AA91-DFC014A82E06}"/>
              </a:ext>
            </a:extLst>
          </p:cNvPr>
          <p:cNvSpPr>
            <a:spLocks xmlns:a="http://schemas.openxmlformats.org/drawingml/2006/main" noGrp="1"/>
          </p:cNvSpPr>
          <p:nvPr/>
        </p:nvSpPr>
        <p:spPr>
          <a:xfrm xmlns:a="http://schemas.openxmlformats.org/drawingml/2006/main">
            <a:off x="6734175" y="2733675"/>
            <a:ext cx="466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231E"/>
                </a:solidFill>
                <a:latin typeface="DM Sans"/>
                <a:ea typeface="DM Sans"/>
                <a:cs typeface="DM Sans"/>
              </a:defRPr>
            </a:pPr>
            <a:r>
              <a:rPr sz="1800" b="0">
                <a:solidFill>
                  <a:srgbClr val="24231E"/>
                </a:solidFill>
                <a:latin typeface="DM Sans"/>
                <a:ea typeface="DM Sans"/>
                <a:cs typeface="DM Sans"/>
              </a:rPr>
              <a:t>Evaluate Top-N ranking and cold users.</a:t>
            </a:r>
          </a:p>
        </p:txBody>
      </p:sp>
      <p:sp>
        <p:nvSpPr>
          <p:cNvPr id="26" name="">
            <a:extLst xmlns:a="http://schemas.openxmlformats.org/drawingml/2006/main">
              <a:ext uri="{FF2B5EF4-FFF2-40B4-BE49-F238E27FC236}">
                <a16:creationId xmlns:a16="http://schemas.microsoft.com/office/drawing/2014/main" id="{AFDC4F34-B309-49EC-BCDB-17C2572CE839}"/>
              </a:ext>
            </a:extLst>
          </p:cNvPr>
          <p:cNvSpPr>
            <a:spLocks xmlns:a="http://schemas.openxmlformats.org/drawingml/2006/main" noGrp="1"/>
          </p:cNvSpPr>
          <p:nvPr/>
        </p:nvSpPr>
        <p:spPr>
          <a:xfrm xmlns:a="http://schemas.openxmlformats.org/drawingml/2006/main">
            <a:off x="6734175" y="34766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231E"/>
                </a:solidFill>
                <a:latin typeface="DM Sans"/>
                <a:ea typeface="DM Sans"/>
                <a:cs typeface="DM Sans"/>
              </a:defRPr>
            </a:pPr>
            <a:r>
              <a:rPr sz="1800" b="1">
                <a:solidFill>
                  <a:srgbClr val="24231E"/>
                </a:solidFill>
                <a:latin typeface="DM Sans"/>
                <a:ea typeface="DM Sans"/>
                <a:cs typeface="DM Sans"/>
              </a:rPr>
              <a:t>Candidate system</a:t>
            </a:r>
          </a:p>
        </p:txBody>
      </p:sp>
      <p:sp>
        <p:nvSpPr>
          <p:cNvPr id="27" name="">
            <a:extLst xmlns:a="http://schemas.openxmlformats.org/drawingml/2006/main">
              <a:ext uri="{FF2B5EF4-FFF2-40B4-BE49-F238E27FC236}">
                <a16:creationId xmlns:a16="http://schemas.microsoft.com/office/drawing/2014/main" id="{4C729298-6BBB-46E2-BF69-1D600ED3EACD}"/>
              </a:ext>
            </a:extLst>
          </p:cNvPr>
          <p:cNvSpPr>
            <a:spLocks xmlns:a="http://schemas.openxmlformats.org/drawingml/2006/main" noGrp="1"/>
          </p:cNvSpPr>
          <p:nvPr/>
        </p:nvSpPr>
        <p:spPr>
          <a:xfrm xmlns:a="http://schemas.openxmlformats.org/drawingml/2006/main">
            <a:off x="6734175" y="3914775"/>
            <a:ext cx="466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231E"/>
                </a:solidFill>
                <a:latin typeface="DM Sans"/>
                <a:ea typeface="DM Sans"/>
                <a:cs typeface="DM Sans"/>
              </a:defRPr>
            </a:pPr>
            <a:r>
              <a:rPr sz="1800" b="0">
                <a:solidFill>
                  <a:srgbClr val="24231E"/>
                </a:solidFill>
                <a:latin typeface="DM Sans"/>
                <a:ea typeface="DM Sans"/>
                <a:cs typeface="DM Sans"/>
              </a:rPr>
              <a:t>CF + metadata + timestamp,</a:t>
            </a:r>
          </a:p>
          <a:p xmlns:a="http://schemas.openxmlformats.org/drawingml/2006/main">
            <a:pPr>
              <a:defRPr sz="1800" b="0">
                <a:solidFill>
                  <a:srgbClr val="24231E"/>
                </a:solidFill>
                <a:latin typeface="DM Sans"/>
                <a:ea typeface="DM Sans"/>
                <a:cs typeface="DM Sans"/>
              </a:defRPr>
            </a:pPr>
            <a:r>
              <a:rPr sz="1800" b="0">
                <a:solidFill>
                  <a:srgbClr val="24231E"/>
                </a:solidFill>
                <a:latin typeface="DM Sans"/>
                <a:ea typeface="DM Sans"/>
                <a:cs typeface="DM Sans"/>
              </a:rPr>
              <a:t>with cold-user fallback.</a:t>
            </a:r>
          </a:p>
        </p:txBody>
      </p:sp>
      <p:sp>
        <p:nvSpPr>
          <p:cNvPr id="28" name="">
            <a:extLst xmlns:a="http://schemas.openxmlformats.org/drawingml/2006/main">
              <a:ext uri="{FF2B5EF4-FFF2-40B4-BE49-F238E27FC236}">
                <a16:creationId xmlns:a16="http://schemas.microsoft.com/office/drawing/2014/main" id="{1782DEA4-808D-4E81-A3BA-CD408F8CB15C}"/>
              </a:ext>
            </a:extLst>
          </p:cNvPr>
          <p:cNvSpPr>
            <a:spLocks xmlns:a="http://schemas.openxmlformats.org/drawingml/2006/main" noGrp="1"/>
          </p:cNvSpPr>
          <p:nvPr/>
        </p:nvSpPr>
        <p:spPr>
          <a:xfrm xmlns:a="http://schemas.openxmlformats.org/drawingml/2006/main">
            <a:off x="6734175" y="46577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231E"/>
                </a:solidFill>
                <a:latin typeface="DM Sans"/>
                <a:ea typeface="DM Sans"/>
                <a:cs typeface="DM Sans"/>
              </a:defRPr>
            </a:pPr>
            <a:r>
              <a:rPr sz="1800" b="1">
                <a:solidFill>
                  <a:srgbClr val="24231E"/>
                </a:solidFill>
                <a:latin typeface="DM Sans"/>
                <a:ea typeface="DM Sans"/>
                <a:cs typeface="DM Sans"/>
              </a:rPr>
              <a:t>Guardrails</a:t>
            </a:r>
          </a:p>
        </p:txBody>
      </p:sp>
      <p:sp>
        <p:nvSpPr>
          <p:cNvPr id="29" name="">
            <a:extLst xmlns:a="http://schemas.openxmlformats.org/drawingml/2006/main">
              <a:ext uri="{FF2B5EF4-FFF2-40B4-BE49-F238E27FC236}">
                <a16:creationId xmlns:a16="http://schemas.microsoft.com/office/drawing/2014/main" id="{FABFE61D-E45A-4510-8BF1-27A6B53DF6C3}"/>
              </a:ext>
            </a:extLst>
          </p:cNvPr>
          <p:cNvSpPr>
            <a:spLocks xmlns:a="http://schemas.openxmlformats.org/drawingml/2006/main" noGrp="1"/>
          </p:cNvSpPr>
          <p:nvPr/>
        </p:nvSpPr>
        <p:spPr>
          <a:xfrm xmlns:a="http://schemas.openxmlformats.org/drawingml/2006/main">
            <a:off x="6734175" y="5095875"/>
            <a:ext cx="466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231E"/>
                </a:solidFill>
                <a:latin typeface="DM Sans"/>
                <a:ea typeface="DM Sans"/>
                <a:cs typeface="DM Sans"/>
              </a:defRPr>
            </a:pPr>
            <a:r>
              <a:rPr sz="1800" b="0">
                <a:solidFill>
                  <a:srgbClr val="24231E"/>
                </a:solidFill>
                <a:latin typeface="DM Sans"/>
                <a:ea typeface="DM Sans"/>
                <a:cs typeface="DM Sans"/>
              </a:rPr>
              <a:t>Completion, catalog concentration,</a:t>
            </a:r>
          </a:p>
          <a:p xmlns:a="http://schemas.openxmlformats.org/drawingml/2006/main">
            <a:pPr>
              <a:defRPr sz="1800" b="0">
                <a:solidFill>
                  <a:srgbClr val="24231E"/>
                </a:solidFill>
                <a:latin typeface="DM Sans"/>
                <a:ea typeface="DM Sans"/>
                <a:cs typeface="DM Sans"/>
              </a:defRPr>
            </a:pPr>
            <a:r>
              <a:rPr sz="1800" b="0">
                <a:solidFill>
                  <a:srgbClr val="24231E"/>
                </a:solidFill>
                <a:latin typeface="DM Sans"/>
                <a:ea typeface="DM Sans"/>
                <a:cs typeface="DM Sans"/>
              </a:rPr>
              <a:t>latency and privacy.</a:t>
            </a:r>
          </a:p>
        </p:txBody>
      </p:sp>
      <p:sp>
        <p:nvSpPr>
          <p:cNvPr id="30" name="">
            <a:extLst xmlns:a="http://schemas.openxmlformats.org/drawingml/2006/main">
              <a:ext uri="{FF2B5EF4-FFF2-40B4-BE49-F238E27FC236}">
                <a16:creationId xmlns:a16="http://schemas.microsoft.com/office/drawing/2014/main" id="{D6A9A8E1-C065-4B95-822A-008F062B2D12}"/>
              </a:ext>
            </a:extLst>
          </p:cNvPr>
          <p:cNvSpPr>
            <a:spLocks xmlns:a="http://schemas.openxmlformats.org/drawingml/2006/main" noGrp="1"/>
          </p:cNvSpPr>
          <p:nvPr/>
        </p:nvSpPr>
        <p:spPr>
          <a:xfrm xmlns:a="http://schemas.openxmlformats.org/drawingml/2006/main">
            <a:off x="714375" y="5819775"/>
            <a:ext cx="10620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56258"/>
                </a:solidFill>
                <a:latin typeface="DM Sans"/>
                <a:ea typeface="DM Sans"/>
                <a:cs typeface="DM Sans"/>
              </a:defRPr>
            </a:pPr>
            <a:r>
              <a:rPr sz="1500" b="0">
                <a:solidFill>
                  <a:srgbClr val="656258"/>
                </a:solidFill>
                <a:latin typeface="DM Sans"/>
                <a:ea typeface="DM Sans"/>
                <a:cs typeface="DM Sans"/>
              </a:rPr>
              <a:t>Repeat evaluation across time windows before a limited randomized pilot.</a:t>
            </a:r>
          </a:p>
          <a:p xmlns:a="http://schemas.openxmlformats.org/drawingml/2006/main">
            <a:pPr>
              <a:defRPr sz="1500" b="0">
                <a:solidFill>
                  <a:srgbClr val="656258"/>
                </a:solidFill>
                <a:latin typeface="DM Sans"/>
                <a:ea typeface="DM Sans"/>
                <a:cs typeface="DM Sans"/>
              </a:defRPr>
            </a:pPr>
            <a:r>
              <a:rPr sz="1500" b="0">
                <a:solidFill>
                  <a:srgbClr val="656258"/>
                </a:solidFill>
                <a:latin typeface="DM Sans"/>
                <a:ea typeface="DM Sans"/>
                <a:cs typeface="DM Sans"/>
              </a:rPr>
              <a:t>MovieLens has no exposure, revenue or cost data to establish ROI.</a:t>
            </a:r>
          </a:p>
        </p:txBody>
      </p:sp>
    </p:spTree>
    <p:extLst>
      <p:ext uri="{BB962C8B-B14F-4D97-AF65-F5344CB8AC3E}">
        <p14:creationId xmlns:p14="http://schemas.microsoft.com/office/powerpoint/2010/main" val="10873009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2026-10-07T18:49:53.1300000Z</dcterms:created>
  <dcterms:modified xsi:type="dcterms:W3CDTF">2026-10-07T18:49:53.1300000Z</dcterms:modified>
</coreProperties>
</file>