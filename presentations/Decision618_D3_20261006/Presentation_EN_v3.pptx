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6e27b23bd54697" /><Relationship Type="http://schemas.openxmlformats.org/officeDocument/2006/relationships/extended-properties" Target="/docProps/app.xml" Id="Rdb72557edea94015" /><Relationship Type="http://schemas.openxmlformats.org/officeDocument/2006/relationships/officeDocument" Target="/ppt/presentation.xml" Id="R926205e690f449f3" /></Relationships>
</file>

<file path=ppt/presentation.xml><?xml version="1.0" encoding="utf-8"?>
<p:presentation xmlns:p="http://schemas.openxmlformats.org/presentationml/2006/main">
  <p:sldMasterIdLst>
    <p:sldMasterId xmlns:r="http://schemas.openxmlformats.org/officeDocument/2006/relationships" id="2147483648" r:id="Rc54ebf2025164c74"/>
  </p:sldMasterIdLst>
  <p:notesMasterIdLst>
    <p:notesMasterId xmlns:r="http://schemas.openxmlformats.org/officeDocument/2006/relationships" r:id="R1b2f0534421e40c4"/>
  </p:notesMasterIdLst>
  <p:sldIdLst>
    <p:sldId xmlns:r="http://schemas.openxmlformats.org/officeDocument/2006/relationships" id="256" r:id="R4b58ebffeb734b8f"/>
    <p:sldId xmlns:r="http://schemas.openxmlformats.org/officeDocument/2006/relationships" id="257" r:id="R37107797ae1349d6"/>
    <p:sldId xmlns:r="http://schemas.openxmlformats.org/officeDocument/2006/relationships" id="258" r:id="R1fb92edc50d848ad"/>
    <p:sldId xmlns:r="http://schemas.openxmlformats.org/officeDocument/2006/relationships" id="259" r:id="R3f7bca5cccff49a6"/>
    <p:sldId xmlns:r="http://schemas.openxmlformats.org/officeDocument/2006/relationships" id="260" r:id="Rc6290e9ee7654b59"/>
    <p:sldId xmlns:r="http://schemas.openxmlformats.org/officeDocument/2006/relationships" id="261" r:id="R1d12dc5646254d06"/>
    <p:sldId xmlns:r="http://schemas.openxmlformats.org/officeDocument/2006/relationships" id="262" r:id="R13e4e4a92dc74a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f8b91f477b4887" /><Relationship Type="http://schemas.openxmlformats.org/officeDocument/2006/relationships/slideMaster" Target="/ppt/slideMasters/slideMaster1.xml" Id="Rc54ebf2025164c74" /><Relationship Type="http://schemas.openxmlformats.org/officeDocument/2006/relationships/notesMaster" Target="/ppt/notesMasters/notesMaster1.xml" Id="R1b2f0534421e40c4" /><Relationship Type="http://schemas.openxmlformats.org/officeDocument/2006/relationships/presProps" Target="/ppt/presProps.xml" Id="Re0eb0f90583548bb" /><Relationship Type="http://schemas.openxmlformats.org/officeDocument/2006/relationships/tableStyles" Target="/ppt/tableStyles.xml" Id="R06c8c06194c449c7" /><Relationship Type="http://schemas.openxmlformats.org/officeDocument/2006/relationships/slide" Target="/ppt/slides/slide1.xml" Id="R4b58ebffeb734b8f" /><Relationship Type="http://schemas.openxmlformats.org/officeDocument/2006/relationships/slide" Target="/ppt/slides/slide2.xml" Id="R37107797ae1349d6" /><Relationship Type="http://schemas.openxmlformats.org/officeDocument/2006/relationships/slide" Target="/ppt/slides/slide3.xml" Id="R1fb92edc50d848ad" /><Relationship Type="http://schemas.openxmlformats.org/officeDocument/2006/relationships/slide" Target="/ppt/slides/slide4.xml" Id="R3f7bca5cccff49a6" /><Relationship Type="http://schemas.openxmlformats.org/officeDocument/2006/relationships/slide" Target="/ppt/slides/slide5.xml" Id="Rc6290e9ee7654b59" /><Relationship Type="http://schemas.openxmlformats.org/officeDocument/2006/relationships/slide" Target="/ppt/slides/slide6.xml" Id="R1d12dc5646254d06" /><Relationship Type="http://schemas.openxmlformats.org/officeDocument/2006/relationships/slide" Target="/ppt/slides/slide7.xml" Id="R13e4e4a92dc74a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e16a60e9ca4d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cd58a4e0cb4561" /><Relationship Type="http://schemas.openxmlformats.org/officeDocument/2006/relationships/notesMaster" Target="/ppt/notesMasters/notesMaster1.xml" Id="R5591324f12f140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6012bb5db84548" /><Relationship Type="http://schemas.openxmlformats.org/officeDocument/2006/relationships/notesMaster" Target="/ppt/notesMasters/notesMaster1.xml" Id="R99460320d3d342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6f8e74b41c4597" /><Relationship Type="http://schemas.openxmlformats.org/officeDocument/2006/relationships/notesMaster" Target="/ppt/notesMasters/notesMaster1.xml" Id="R2162a031c49049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7e6552316b4977" /><Relationship Type="http://schemas.openxmlformats.org/officeDocument/2006/relationships/notesMaster" Target="/ppt/notesMasters/notesMaster1.xml" Id="Rab10e928503348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94f393e43d4897" /><Relationship Type="http://schemas.openxmlformats.org/officeDocument/2006/relationships/notesMaster" Target="/ppt/notesMasters/notesMaster1.xml" Id="R02cb27458bbb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f79d6912fa4d32" /><Relationship Type="http://schemas.openxmlformats.org/officeDocument/2006/relationships/notesMaster" Target="/ppt/notesMasters/notesMaster1.xml" Id="R80714b60a75a46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2c5c706e604485" /><Relationship Type="http://schemas.openxmlformats.org/officeDocument/2006/relationships/notesMaster" Target="/ppt/notesMasters/notesMaster1.xml" Id="Rce661a23617845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asks what a movie platform should recommend to a returning user. We use recent rating history to build a shortlist of ten movies. The business goal is to help people find something they want to start. MovieLens lets us test recommendation relevance offline, although it cannot tell us whether the system increases revenue.</a:t>
            </a:r>
          </a:p>
          <a:p xmlns:a="http://schemas.openxmlformats.org/drawingml/2006/main">
            <a:r>
              <a:t/>
            </a:r>
          </a:p>
          <a:p xmlns:a="http://schemas.openxmlformats.org/drawingml/2006/main">
            <a:r>
              <a:t>中文讲解</a:t>
            </a:r>
          </a:p>
          <a:p xmlns:a="http://schemas.openxmlformats.org/drawingml/2006/main">
            <a:r>
              <a:t>项目是为一个假设的订阅制电影平台生成十部候选电影。商业目标是帮助用户更快找到愿意开始观看的影片。我们现在测量的是离线推荐相关性，尚未证明收入、观看时长或留存提升。</a:t>
            </a:r>
          </a:p>
          <a:p xmlns:a="http://schemas.openxmlformats.org/drawingml/2006/main">
            <a:r>
              <a:t/>
            </a:r>
          </a:p>
          <a:p xmlns:a="http://schemas.openxmlformats.org/drawingml/2006/main">
            <a:r>
              <a:t>Planned time: 25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has about one million ratings from six thousand users. The team notebook has cleaned the source tables and joined the movie and user information. Most user-movie pairs have no rating. We leave those cells unobserved rather than treating them as dislikes. There is also a timing problem: over half of adjacent ratings share the same timestamp. So our sequence represents rating activity, and we cannot describe it as a confirmed viewing sequence.</a:t>
            </a:r>
          </a:p>
          <a:p xmlns:a="http://schemas.openxmlformats.org/drawingml/2006/main">
            <a:r>
              <a:t/>
            </a:r>
          </a:p>
          <a:p xmlns:a="http://schemas.openxmlformats.org/drawingml/2006/main">
            <a:r>
              <a:t>中文讲解</a:t>
            </a:r>
          </a:p>
          <a:p xmlns:a="http://schemas.openxmlformats.org/drawingml/2006/main">
            <a:r>
              <a:t>团队 GitHub 当前只有数据清洗 notebook。它已检查缺失值、重复评分、分值范围，转换时间、拆分类型、提取年份、解码用户类别，并合并成 1,000,209 行、11 列。保存 Parquet 的输出存在 notebook 中，但四个 Parquet 文件没有上传仓库。本地模型实验是后续扩展，应与仓库清洗进展区分。</a:t>
            </a:r>
          </a:p>
          <a:p xmlns:a="http://schemas.openxmlformats.org/drawingml/2006/main">
            <a:r>
              <a:t/>
            </a:r>
          </a:p>
          <a:p xmlns:a="http://schemas.openxmlformats.org/drawingml/2006/main">
            <a:r>
              <a:t>Planned time: 40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 used matrix factorization to predict missing star ratings. It learns a compact representation of each user and movie. Our extension uses NextItNet to predict the next movie a person rates. It reads the recent movie IDs through a causal convolution network, so a prediction cannot see later positions. We adapted the Recommenders encoder to an item-only model. Validation selected ten recent items and eight training epochs. This changes both the model and the prediction target, which matters when we compare results.</a:t>
            </a:r>
          </a:p>
          <a:p xmlns:a="http://schemas.openxmlformats.org/drawingml/2006/main">
            <a:r>
              <a:t/>
            </a:r>
          </a:p>
          <a:p xmlns:a="http://schemas.openxmlformats.org/drawingml/2006/main">
            <a:r>
              <a:t>中文讲解</a:t>
            </a:r>
          </a:p>
          <a:p xmlns:a="http://schemas.openxmlformats.org/drawingml/2006/main">
            <a:r>
              <a:t>老师用 softImpute 做矩阵分解，预测用户会给电影几颗星。我们的 adapted NextItNet 根据最近电影 ID 预测下一次评分对应的电影。它与老师的方法共享“从用户互动学习偏好”的思路，但增加了近期历史和非线性编码，也更改了预测目标。评分低的电影在当前实验中仍算一次互动。</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user, we reserve the last rating for testing and the previous one for validation. All model choices use validation results. We then refit with the validation history included, while keeping the final target out. Each model ranks the same fitted catalog and removes previously rated movies. Two users have test movies outside that catalog, so all methods evaluate the same six thousand and thirty-eight users. Our target includes every rating, even a low star rating.</a:t>
            </a:r>
          </a:p>
          <a:p xmlns:a="http://schemas.openxmlformats.org/drawingml/2006/main">
            <a:r>
              <a:t/>
            </a:r>
          </a:p>
          <a:p xmlns:a="http://schemas.openxmlformats.org/drawingml/2006/main">
            <a:r>
              <a:t>中文讲解</a:t>
            </a:r>
          </a:p>
          <a:p xmlns:a="http://schemas.openxmlformats.org/drawingml/2006/main">
            <a:r>
              <a:t>每位用户最后一条评分是测试，倒数第二条是验证。训练评分有 988,129 条，每个人第一条没有过去记录，因此训练的下一物品目标数为 988,129 - 6,040 = 982,089。它们来自 6,040 条用户序列，并非 982,089 位独立用户。代码采用不重叠分块，每个块内部做逐位置预测，跨块不保留完整历史。</a:t>
            </a:r>
          </a:p>
          <a:p xmlns:a="http://schemas.openxmlformats.org/drawingml/2006/main">
            <a:r>
              <a:t/>
            </a:r>
          </a:p>
          <a:p xmlns:a="http://schemas.openxmlformats.org/drawingml/2006/main">
            <a:r>
              <a:t>Planned time: 40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result is hit rate at ten. Popularity finds the held-out movie for about four percent of users. Item-kNN reaches seven point four percent. Adapted NextItNet reaches nineteen point nine four percent, a gain of twelve point five four percentage points over item-kNN. NDCG also improves, which means the correct movie tends to appear closer to the top. The paired bootstrap interval for that improvement stays above zero. We also ran SVD, but it optimizes star ratings, so its weaker ranking result does not establish that sequence models are generally better than matrix factorization.</a:t>
            </a:r>
          </a:p>
          <a:p xmlns:a="http://schemas.openxmlformats.org/drawingml/2006/main">
            <a:r>
              <a:t/>
            </a:r>
          </a:p>
          <a:p xmlns:a="http://schemas.openxmlformats.org/drawingml/2006/main">
            <a:r>
              <a:t>中文讲解</a:t>
            </a:r>
          </a:p>
          <a:p xmlns:a="http://schemas.openxmlformats.org/drawingml/2006/main">
            <a:r>
              <a:t>19.94% 的 HR@10 意味着：在 6,038 名可评估用户中，约五分之一的真实最后评分电影出现在模型推荐的前十名。不是 19.94% 的评分预测正确，也不是点击率。与 item-kNN 的 7.40% 相比提升 12.54 个百分点。评分型 SVD 的目标不同，所以不要用它的低 HR 声称所有矩阵分解都不如 NextItNet。</a:t>
            </a:r>
          </a:p>
          <a:p xmlns:a="http://schemas.openxmlformats.org/drawingml/2006/main">
            <a:r>
              <a:t/>
            </a:r>
          </a:p>
          <a:p xmlns:a="http://schemas.openxmlformats.org/drawingml/2006/main">
            <a:r>
              <a:t>Planned time: 60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checked the users whose final rating happened at a strictly later timestamp. This removes an ambiguous ordering at the test boundary. For this smaller group, NextItNet reaches a fourteen point three one percent hit rate, compared with five point nine five percent for item-kNN. Its advantage remains. But the split is still per user, and another user's later ratings can enter training. A global time split and a model retrained on shuffled histories would give us a stronger test of the contribution of sequence order.</a:t>
            </a:r>
          </a:p>
          <a:p xmlns:a="http://schemas.openxmlformats.org/drawingml/2006/main">
            <a:r>
              <a:t/>
            </a:r>
          </a:p>
          <a:p xmlns:a="http://schemas.openxmlformats.org/drawingml/2006/main">
            <a:r>
              <a:t>中文讲解</a:t>
            </a:r>
          </a:p>
          <a:p xmlns:a="http://schemas.openxmlformats.org/drawingml/2006/main">
            <a:r>
              <a:t>53.21% 的相邻评分时间完全相同，不能据此识别先看哪部电影。严格时间子样本只要求最后评分晚于前一条，共 3,494 名可评估用户，仍不是完整无并列序列。固定权重打乱输入只能说明预测敏感，不能证明顺序的因果价值。</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would move next to a limited pilot, after those additional checks. Returning users would receive the personalized row. The demo already gives new users a popularity fallback. New movies would need a metadata route, which connects to the hybrid method discussed in class. We would compare recommendation-led starts in a randomized test and monitor completion, title concentration and latency. MovieLens does not contain the business outcomes or costs needed for ROI. Our conclusion is that this version merits further testing, with privacy controls and a way for users to opt out.</a:t>
            </a:r>
          </a:p>
          <a:p xmlns:a="http://schemas.openxmlformats.org/drawingml/2006/main">
            <a:r>
              <a:t/>
            </a:r>
          </a:p>
          <a:p xmlns:a="http://schemas.openxmlformats.org/drawingml/2006/main">
            <a:r>
              <a:t>中文讲解</a:t>
            </a:r>
          </a:p>
          <a:p xmlns:a="http://schemas.openxmlformats.org/drawingml/2006/main">
            <a:r>
              <a:t>后续最有价值的是全球按时间切分、用相同训练目标比较矩阵分解和 NextItNet，再评估是否值得部署。老师的 hybrid 思路可以做类型偏好加权、冷启动候选和多样性重排；目前这些只是改进方案。新用户已有热门推荐 fallback，新电影的 metadata route 尚未实现。</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GroupLens, MovieLens 1M https://grouplens.org/datasets/movielens/1m/</a:t>
            </a:r>
          </a:p>
          <a:p xmlns:a="http://schemas.openxmlformats.org/drawingml/2006/main">
            <a:r>
              <a:t>Yuan et al., NextItNet https://arxiv.org/abs/1808.05163</a:t>
            </a:r>
          </a:p>
          <a:p xmlns:a="http://schemas.openxmlformats.org/drawingml/2006/main">
            <a:r>
              <a:t>Recommenders 1.2.1 encoder https://github.com/recommenders-team/recommenders/blob/1.2.1/recommenders/models/deeprec/models/sequential/nextitnet.py</a:t>
            </a:r>
          </a:p>
          <a:p xmlns:a="http://schemas.openxmlformats.org/drawingml/2006/main">
            <a:r>
              <a:t>DECISION 618 Team Project https://fuqua.instructure.com/courses/4169/pages/team-project</a:t>
            </a:r>
          </a:p>
          <a:p xmlns:a="http://schemas.openxmlformats.org/drawingml/2006/main">
            <a:r>
              <a:t>Team cleaning notebook https://github.com/joonselim/data_analytics_team_project_movie/blob/72fdcaa2a7608995979077bb71254d1002e525ba/movie_data_cleaning.ipynb</a:t>
            </a:r>
          </a:p>
          <a:p xmlns:a="http://schemas.openxmlformats.org/drawingml/2006/main">
            <a:r>
              <a:t>Local evidence: nextitnet/results/summary.json and test_per_user.csv. Original training September 12, 2026; audit October 6. Instructor results and proposed extensions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c572ee76374c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a8cf8434f44b37" /><Relationship Type="http://schemas.openxmlformats.org/officeDocument/2006/relationships/slideLayout" Target="/ppt/slideLayouts/slideLayout1.xml" Id="Rfa78ef4e0b5e47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78ef4e0b5e47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7199782d354805" /><Relationship Type="http://schemas.openxmlformats.org/officeDocument/2006/relationships/notesSlide" Target="/ppt/notesSlides/notesSlide1.xml" Id="Re2476bf7dbe24b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a554e15a354d7d" /><Relationship Type="http://schemas.openxmlformats.org/officeDocument/2006/relationships/chart" Target="/ppt/slides/charts/chart1.xml" Id="R4f957a6846d24b71" /><Relationship Type="http://schemas.openxmlformats.org/officeDocument/2006/relationships/notesSlide" Target="/ppt/notesSlides/notesSlide2.xml" Id="R5480c5ef102e4c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0d75c48c8a41dd" /><Relationship Type="http://schemas.openxmlformats.org/officeDocument/2006/relationships/notesSlide" Target="/ppt/notesSlides/notesSlide3.xml" Id="Rb836938a4a6648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652ae4712645be" /><Relationship Type="http://schemas.openxmlformats.org/officeDocument/2006/relationships/notesSlide" Target="/ppt/notesSlides/notesSlide4.xml" Id="R8dd50bea003d4c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473a91aaa24b7d" /><Relationship Type="http://schemas.openxmlformats.org/officeDocument/2006/relationships/chart" Target="/ppt/slides/charts/chart2.xml" Id="R3015a68b2dbe4832" /><Relationship Type="http://schemas.openxmlformats.org/officeDocument/2006/relationships/notesSlide" Target="/ppt/notesSlides/notesSlide5.xml" Id="R66c933a1fe464a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c0ee732884418e" /><Relationship Type="http://schemas.openxmlformats.org/officeDocument/2006/relationships/notesSlide" Target="/ppt/notesSlides/notesSlide6.xml" Id="R068b74f8a4e94e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63a85d3be641ec" /><Relationship Type="http://schemas.openxmlformats.org/officeDocument/2006/relationships/notesSlide" Target="/ppt/notesSlides/notesSlide7.xml" Id="R8e39e1d3192a41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Rate</c:v>
          </c:tx>
          <c:spPr>
            <a:solidFill xmlns:a="http://schemas.openxmlformats.org/drawingml/2006/main">
              <a:srgbClr val="E46242"/>
            </a:solidFill>
          </c:spPr>
          <c:cat>
            <c:strRef>
              <c:f>'Chart Data'!$A$2:$A$4</c:f>
              <c:strCache>
                <c:ptCount val="3"/>
                <c:pt idx="0">
                  <c:v>Same timestamp</c:v>
                </c:pt>
                <c:pt idx="1">
                  <c:v>1 to 60 seconds</c:v>
                </c:pt>
                <c:pt idx="2">
                  <c:v>More than 60 seconds</c:v>
                </c:pt>
              </c:strCache>
            </c:strRef>
          </c:cat>
          <c:val>
            <c:numRef>
              <c:f>'Chart Data'!$B$2:$B$4</c:f>
              <c:numCache>
                <c:formatCode>0.0%</c:formatCode>
                <c:ptCount val="3"/>
                <c:pt idx="0">
                  <c:v>0.53214896</c:v>
                </c:pt>
                <c:pt idx="1">
                  <c:v>0.35500705</c:v>
                </c:pt>
                <c:pt idx="2">
                  <c:v>0.11284399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4231E"/>
                  </a:solidFill>
                  <a:latin typeface="DM Sans"/>
                  <a:ea typeface="DM Sans"/>
                  <a:cs typeface="DM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656258"/>
            </a:solidFill>
          </a:ln>
        </c:spPr>
        <c:txPr>
          <a:bodyPr xmlns:a="http://schemas.openxmlformats.org/drawingml/2006/main" anchorCtr="1"/>
          <a:lstStyle xmlns:a="http://schemas.openxmlformats.org/drawingml/2006/main"/>
          <a:p xmlns:a="http://schemas.openxmlformats.org/drawingml/2006/main">
            <a:pPr>
              <a:defRPr sz="1575">
                <a:solidFill>
                  <a:srgbClr val="24231E"/>
                </a:solidFill>
                <a:latin typeface="DM Sans"/>
                <a:ea typeface="DM Sans"/>
                <a:cs typeface="DM Sans"/>
              </a:defRPr>
            </a:pPr>
          </a:p>
        </c:txPr>
        <c:crossAx val="48672768"/>
      </c:catAx>
      <c:valAx>
        <c:axId val="48672768"/>
        <c:scaling>
          <c:orientation val="minMax"/>
          <c:max val="0.65"/>
          <c:min val="0"/>
        </c:scaling>
        <c:delete val="0"/>
        <c:axPos val="b"/>
        <c:majorGridlines>
          <c:spPr>
            <a:ln xmlns:a="http://schemas.openxmlformats.org/drawingml/2006/main" w="4763">
              <a:solidFill>
                <a:srgbClr val="DFD5C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6258"/>
                </a:solidFill>
                <a:latin typeface="DM Sans"/>
                <a:ea typeface="DM Sans"/>
                <a:cs typeface="DM Sans"/>
              </a:defRPr>
            </a:pPr>
          </a:p>
        </c:txPr>
        <c:crossAx val="48650112"/>
        <c:crossBetween val="between"/>
      </c:valAx>
      <c:spPr>
        <a:solidFill xmlns:a="http://schemas.openxmlformats.org/drawingml/2006/main">
          <a:srgbClr val="F1E8D5"/>
        </a:solidFill>
      </c:spPr>
    </c:plotArea>
    <c:plotVisOnly val="1"/>
  </c:chart>
  <c:spPr>
    <a:solidFill xmlns:a="http://schemas.openxmlformats.org/drawingml/2006/main">
      <a:srgbClr val="F1E8D5"/>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Rate</c:v>
          </c:tx>
          <c:spPr>
            <a:solidFill xmlns:a="http://schemas.openxmlformats.org/drawingml/2006/main">
              <a:srgbClr val="E46242"/>
            </a:solidFill>
          </c:spPr>
          <c:dPt>
            <c:idx val="0"/>
            <c:invertIfNegative val="0"/>
            <c:spPr>
              <a:solidFill xmlns:a="http://schemas.openxmlformats.org/drawingml/2006/main">
                <a:srgbClr val="C8BDA9"/>
              </a:solidFill>
            </c:spPr>
          </c:dPt>
          <c:dPt>
            <c:idx val="1"/>
            <c:invertIfNegative val="0"/>
            <c:spPr>
              <a:solidFill xmlns:a="http://schemas.openxmlformats.org/drawingml/2006/main">
                <a:srgbClr val="C8BDA9"/>
              </a:solidFill>
            </c:spPr>
          </c:dPt>
          <c:dPt>
            <c:idx val="2"/>
            <c:invertIfNegative val="0"/>
            <c:spPr>
              <a:solidFill xmlns:a="http://schemas.openxmlformats.org/drawingml/2006/main">
                <a:srgbClr val="E46242"/>
              </a:solidFill>
            </c:spPr>
          </c:dPt>
          <c:cat>
            <c:strRef>
              <c:f>'Chart Data'!$A$2:$A$4</c:f>
              <c:strCache>
                <c:ptCount val="3"/>
                <c:pt idx="0">
                  <c:v>Popularity</c:v>
                </c:pt>
                <c:pt idx="1">
                  <c:v>item-kNN</c:v>
                </c:pt>
                <c:pt idx="2">
                  <c:v>NextItNet</c:v>
                </c:pt>
              </c:strCache>
            </c:strRef>
          </c:cat>
          <c:val>
            <c:numRef>
              <c:f>'Chart Data'!$B$2:$B$4</c:f>
              <c:numCache>
                <c:formatCode>0.00%</c:formatCode>
                <c:ptCount val="3"/>
                <c:pt idx="0">
                  <c:v>0.04090759</c:v>
                </c:pt>
                <c:pt idx="1">
                  <c:v>0.07403114</c:v>
                </c:pt>
                <c:pt idx="2">
                  <c:v>0.19940378</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4231E"/>
                  </a:solidFill>
                  <a:latin typeface="DM Sans"/>
                  <a:ea typeface="DM Sans"/>
                  <a:cs typeface="DM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56258"/>
            </a:solidFill>
          </a:ln>
        </c:spPr>
        <c:txPr>
          <a:bodyPr xmlns:a="http://schemas.openxmlformats.org/drawingml/2006/main" anchorCtr="1"/>
          <a:lstStyle xmlns:a="http://schemas.openxmlformats.org/drawingml/2006/main"/>
          <a:p xmlns:a="http://schemas.openxmlformats.org/drawingml/2006/main">
            <a:pPr>
              <a:defRPr sz="1575">
                <a:solidFill>
                  <a:srgbClr val="24231E"/>
                </a:solidFill>
                <a:latin typeface="DM Sans"/>
                <a:ea typeface="DM Sans"/>
                <a:cs typeface="DM Sans"/>
              </a:defRPr>
            </a:pPr>
          </a:p>
        </c:txPr>
        <c:crossAx val="48672768"/>
      </c:catAx>
      <c:valAx>
        <c:axId val="48672768"/>
        <c:scaling>
          <c:orientation val="minMax"/>
          <c:max val="0.25"/>
          <c:min val="0"/>
        </c:scaling>
        <c:delete val="0"/>
        <c:axPos val="l"/>
        <c:majorGridlines>
          <c:spPr>
            <a:ln xmlns:a="http://schemas.openxmlformats.org/drawingml/2006/main" w="4763">
              <a:solidFill>
                <a:srgbClr val="D8CEB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6258"/>
                </a:solidFill>
                <a:latin typeface="DM Sans"/>
                <a:ea typeface="DM Sans"/>
                <a:cs typeface="DM Sans"/>
              </a:defRPr>
            </a:pPr>
          </a:p>
        </c:txPr>
        <c:crossAx val="48650112"/>
        <c:crossBetween val="between"/>
      </c:valAx>
      <c:spPr>
        <a:solidFill xmlns:a="http://schemas.openxmlformats.org/drawingml/2006/main">
          <a:srgbClr val="F1E8D5"/>
        </a:solidFill>
      </c:spPr>
    </c:plotArea>
    <c:plotVisOnly val="1"/>
  </c:chart>
  <c:spPr>
    <a:solidFill xmlns:a="http://schemas.openxmlformats.org/drawingml/2006/main">
      <a:srgbClr val="F1E8D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6DDA10-7EDA-498F-824E-384AE80A78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DC1243-1682-45FF-8684-A08D76131FA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27EC55B6-73BB-4C3F-B11C-2267BCF57BAB}"/>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BUSINESS PROBLEM</a:t>
            </a:r>
          </a:p>
        </p:txBody>
      </p:sp>
      <p:sp>
        <p:nvSpPr>
          <p:cNvPr id="4" name="">
            <a:extLst xmlns:a="http://schemas.openxmlformats.org/drawingml/2006/main">
              <a:ext uri="{FF2B5EF4-FFF2-40B4-BE49-F238E27FC236}">
                <a16:creationId xmlns:a16="http://schemas.microsoft.com/office/drawing/2014/main" id="{EB663CE6-B799-4752-AB88-47307A918CA7}"/>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93B6E2-AA63-4EF7-AD51-99395A7292FF}"/>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01</a:t>
            </a:r>
          </a:p>
        </p:txBody>
      </p:sp>
      <p:sp>
        <p:nvSpPr>
          <p:cNvPr id="6" name="">
            <a:extLst xmlns:a="http://schemas.openxmlformats.org/drawingml/2006/main">
              <a:ext uri="{FF2B5EF4-FFF2-40B4-BE49-F238E27FC236}">
                <a16:creationId xmlns:a16="http://schemas.microsoft.com/office/drawing/2014/main" id="{F63F51F5-6D81-4D61-9087-AC303A11B6E4}"/>
              </a:ext>
            </a:extLst>
          </p:cNvPr>
          <p:cNvSpPr>
            <a:spLocks xmlns:a="http://schemas.openxmlformats.org/drawingml/2006/main" noGrp="1"/>
          </p:cNvSpPr>
          <p:nvPr/>
        </p:nvSpPr>
        <p:spPr>
          <a:xfrm xmlns:a="http://schemas.openxmlformats.org/drawingml/2006/main">
            <a:off x="714375" y="1447800"/>
            <a:ext cx="10287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0">
                <a:solidFill>
                  <a:srgbClr val="F1E8D5"/>
                </a:solidFill>
                <a:latin typeface="Bebas Neue"/>
                <a:ea typeface="Bebas Neue"/>
                <a:cs typeface="Bebas Neue"/>
              </a:defRPr>
            </a:pPr>
            <a:r>
              <a:rPr sz="9750" b="0">
                <a:solidFill>
                  <a:srgbClr val="F1E8D5"/>
                </a:solidFill>
                <a:latin typeface="Bebas Neue"/>
                <a:ea typeface="Bebas Neue"/>
                <a:cs typeface="Bebas Neue"/>
              </a:rPr>
              <a:t>THE NEXT MOVIE</a:t>
            </a:r>
          </a:p>
        </p:txBody>
      </p:sp>
      <p:sp>
        <p:nvSpPr>
          <p:cNvPr id="7" name="">
            <a:extLst xmlns:a="http://schemas.openxmlformats.org/drawingml/2006/main">
              <a:ext uri="{FF2B5EF4-FFF2-40B4-BE49-F238E27FC236}">
                <a16:creationId xmlns:a16="http://schemas.microsoft.com/office/drawing/2014/main" id="{071E41BC-6C28-4910-AFBB-5E990C28F699}"/>
              </a:ext>
            </a:extLst>
          </p:cNvPr>
          <p:cNvSpPr>
            <a:spLocks xmlns:a="http://schemas.openxmlformats.org/drawingml/2006/main" noGrp="1"/>
          </p:cNvSpPr>
          <p:nvPr/>
        </p:nvSpPr>
        <p:spPr>
          <a:xfrm xmlns:a="http://schemas.openxmlformats.org/drawingml/2006/main">
            <a:off x="714375" y="2981325"/>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0">
                <a:solidFill>
                  <a:srgbClr val="E46242"/>
                </a:solidFill>
                <a:latin typeface="Bebas Neue"/>
                <a:ea typeface="Bebas Neue"/>
                <a:cs typeface="Bebas Neue"/>
              </a:defRPr>
            </a:pPr>
            <a:r>
              <a:rPr sz="9750" b="0">
                <a:solidFill>
                  <a:srgbClr val="E46242"/>
                </a:solidFill>
                <a:latin typeface="Bebas Neue"/>
                <a:ea typeface="Bebas Neue"/>
                <a:cs typeface="Bebas Neue"/>
              </a:rPr>
              <a:t>RECOMMENDATION</a:t>
            </a:r>
          </a:p>
        </p:txBody>
      </p:sp>
      <p:sp>
        <p:nvSpPr>
          <p:cNvPr id="8" name="">
            <a:extLst xmlns:a="http://schemas.openxmlformats.org/drawingml/2006/main">
              <a:ext uri="{FF2B5EF4-FFF2-40B4-BE49-F238E27FC236}">
                <a16:creationId xmlns:a16="http://schemas.microsoft.com/office/drawing/2014/main" id="{43DA4AD9-6240-4A8B-BFED-F9BC178B64D1}"/>
              </a:ext>
            </a:extLst>
          </p:cNvPr>
          <p:cNvSpPr>
            <a:spLocks xmlns:a="http://schemas.openxmlformats.org/drawingml/2006/main" noGrp="1"/>
          </p:cNvSpPr>
          <p:nvPr/>
        </p:nvSpPr>
        <p:spPr>
          <a:xfrm xmlns:a="http://schemas.openxmlformats.org/drawingml/2006/main">
            <a:off x="733425" y="4524375"/>
            <a:ext cx="10429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DB8AD"/>
                </a:solidFill>
                <a:latin typeface="DM Sans"/>
                <a:ea typeface="DM Sans"/>
                <a:cs typeface="DM Sans"/>
              </a:defRPr>
            </a:pPr>
            <a:r>
              <a:rPr sz="2100" b="0">
                <a:solidFill>
                  <a:srgbClr val="BDB8AD"/>
                </a:solidFill>
                <a:latin typeface="DM Sans"/>
                <a:ea typeface="DM Sans"/>
                <a:cs typeface="DM Sans"/>
              </a:rPr>
              <a:t>MovieLens 1M and adapted NextItNet</a:t>
            </a:r>
          </a:p>
        </p:txBody>
      </p:sp>
      <p:sp>
        <p:nvSpPr>
          <p:cNvPr id="9" name="">
            <a:extLst xmlns:a="http://schemas.openxmlformats.org/drawingml/2006/main">
              <a:ext uri="{FF2B5EF4-FFF2-40B4-BE49-F238E27FC236}">
                <a16:creationId xmlns:a16="http://schemas.microsoft.com/office/drawing/2014/main" id="{9CC866D4-A7F7-4324-ACD3-4C4FF9369D35}"/>
              </a:ext>
            </a:extLst>
          </p:cNvPr>
          <p:cNvSpPr>
            <a:spLocks xmlns:a="http://schemas.openxmlformats.org/drawingml/2006/main" noGrp="1"/>
          </p:cNvSpPr>
          <p:nvPr/>
        </p:nvSpPr>
        <p:spPr>
          <a:xfrm xmlns:a="http://schemas.openxmlformats.org/drawingml/2006/main">
            <a:off x="733425" y="58769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DB8AD"/>
                </a:solidFill>
                <a:latin typeface="DM Sans"/>
                <a:ea typeface="DM Sans"/>
                <a:cs typeface="DM Sans"/>
              </a:defRPr>
            </a:pPr>
            <a:r>
              <a:rPr sz="1425" b="0">
                <a:solidFill>
                  <a:srgbClr val="BDB8AD"/>
                </a:solidFill>
                <a:latin typeface="DM Sans"/>
                <a:ea typeface="DM Sans"/>
                <a:cs typeface="DM Sans"/>
              </a:rPr>
              <a:t>Jiaming Cui, Joonse Lim, Tung Jerateepkulmeth</a:t>
            </a:r>
          </a:p>
        </p:txBody>
      </p:sp>
    </p:spTree>
    <p:extLst>
      <p:ext uri="{BB962C8B-B14F-4D97-AF65-F5344CB8AC3E}">
        <p14:creationId xmlns:p14="http://schemas.microsoft.com/office/powerpoint/2010/main" val="844129777"/>
      </p:ext>
    </p:extLst>
  </p:cSld>
</p:sld>
</file>

<file path=ppt/slides/slide2.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13D622-DC4A-4901-A7C3-04194D47CB0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444ED9-C6BB-4DD0-A4F8-3873C9FD6A39}"/>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3E46D4F6-BFB9-4045-AD3D-CB289A478AF4}"/>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DATA UNDERSTANDING</a:t>
            </a:r>
          </a:p>
        </p:txBody>
      </p:sp>
      <p:sp>
        <p:nvSpPr>
          <p:cNvPr id="4" name="">
            <a:extLst xmlns:a="http://schemas.openxmlformats.org/drawingml/2006/main">
              <a:ext uri="{FF2B5EF4-FFF2-40B4-BE49-F238E27FC236}">
                <a16:creationId xmlns:a16="http://schemas.microsoft.com/office/drawing/2014/main" id="{F693E77C-44FD-4C05-B7BB-C8DD5C6C5B1F}"/>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AA43B-2B70-4484-873C-7595A49FF2BF}"/>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24231E"/>
                </a:solidFill>
                <a:latin typeface="Bebas Neue"/>
                <a:ea typeface="Bebas Neue"/>
                <a:cs typeface="Bebas Neue"/>
              </a:defRPr>
            </a:pPr>
            <a:r>
              <a:rPr sz="5100" b="0">
                <a:solidFill>
                  <a:srgbClr val="24231E"/>
                </a:solidFill>
                <a:latin typeface="Bebas Neue"/>
                <a:ea typeface="Bebas Neue"/>
                <a:cs typeface="Bebas Neue"/>
              </a:rPr>
              <a:t>MovieLens and rating activity</a:t>
            </a:r>
          </a:p>
        </p:txBody>
      </p:sp>
      <p:sp>
        <p:nvSpPr>
          <p:cNvPr id="6" name="">
            <a:extLst xmlns:a="http://schemas.openxmlformats.org/drawingml/2006/main">
              <a:ext uri="{FF2B5EF4-FFF2-40B4-BE49-F238E27FC236}">
                <a16:creationId xmlns:a16="http://schemas.microsoft.com/office/drawing/2014/main" id="{6790B2EA-31F9-4C0B-8B5F-8D0D99CB70A0}"/>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02</a:t>
            </a:r>
          </a:p>
        </p:txBody>
      </p:sp>
      <p:sp>
        <p:nvSpPr>
          <p:cNvPr id="7" name="">
            <a:extLst xmlns:a="http://schemas.openxmlformats.org/drawingml/2006/main">
              <a:ext uri="{FF2B5EF4-FFF2-40B4-BE49-F238E27FC236}">
                <a16:creationId xmlns:a16="http://schemas.microsoft.com/office/drawing/2014/main" id="{73121570-4120-425C-AF21-A0EB21D2C157}"/>
              </a:ext>
            </a:extLst>
          </p:cNvPr>
          <p:cNvSpPr>
            <a:spLocks xmlns:a="http://schemas.openxmlformats.org/drawingml/2006/main" noGrp="1"/>
          </p:cNvSpPr>
          <p:nvPr/>
        </p:nvSpPr>
        <p:spPr>
          <a:xfrm xmlns:a="http://schemas.openxmlformats.org/drawingml/2006/main">
            <a:off x="714375" y="226695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1,000,209</a:t>
            </a:r>
          </a:p>
        </p:txBody>
      </p:sp>
      <p:sp>
        <p:nvSpPr>
          <p:cNvPr id="8" name="">
            <a:extLst xmlns:a="http://schemas.openxmlformats.org/drawingml/2006/main">
              <a:ext uri="{FF2B5EF4-FFF2-40B4-BE49-F238E27FC236}">
                <a16:creationId xmlns:a16="http://schemas.microsoft.com/office/drawing/2014/main" id="{81C0AC1B-EA8F-45AD-992B-CD82FF7351EF}"/>
              </a:ext>
            </a:extLst>
          </p:cNvPr>
          <p:cNvSpPr>
            <a:spLocks xmlns:a="http://schemas.openxmlformats.org/drawingml/2006/main" noGrp="1"/>
          </p:cNvSpPr>
          <p:nvPr/>
        </p:nvSpPr>
        <p:spPr>
          <a:xfrm xmlns:a="http://schemas.openxmlformats.org/drawingml/2006/main">
            <a:off x="714375" y="33813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6258"/>
                </a:solidFill>
                <a:latin typeface="DM Sans"/>
                <a:ea typeface="DM Sans"/>
                <a:cs typeface="DM Sans"/>
              </a:defRPr>
            </a:pPr>
            <a:r>
              <a:rPr sz="1800" b="0">
                <a:solidFill>
                  <a:srgbClr val="656258"/>
                </a:solidFill>
                <a:latin typeface="DM Sans"/>
                <a:ea typeface="DM Sans"/>
                <a:cs typeface="DM Sans"/>
              </a:rPr>
              <a:t>ratings from 6,040 users</a:t>
            </a:r>
          </a:p>
        </p:txBody>
      </p:sp>
      <p:sp>
        <p:nvSpPr>
          <p:cNvPr id="9" name="">
            <a:extLst xmlns:a="http://schemas.openxmlformats.org/drawingml/2006/main">
              <a:ext uri="{FF2B5EF4-FFF2-40B4-BE49-F238E27FC236}">
                <a16:creationId xmlns:a16="http://schemas.microsoft.com/office/drawing/2014/main" id="{6780D574-178C-4CD6-8C88-715348C8C519}"/>
              </a:ext>
            </a:extLst>
          </p:cNvPr>
          <p:cNvSpPr>
            <a:spLocks xmlns:a="http://schemas.openxmlformats.org/drawingml/2006/main" noGrp="1"/>
          </p:cNvSpPr>
          <p:nvPr/>
        </p:nvSpPr>
        <p:spPr>
          <a:xfrm xmlns:a="http://schemas.openxmlformats.org/drawingml/2006/main">
            <a:off x="714375" y="4181475"/>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95.74%</a:t>
            </a:r>
          </a:p>
        </p:txBody>
      </p:sp>
      <p:sp>
        <p:nvSpPr>
          <p:cNvPr id="10" name="">
            <a:extLst xmlns:a="http://schemas.openxmlformats.org/drawingml/2006/main">
              <a:ext uri="{FF2B5EF4-FFF2-40B4-BE49-F238E27FC236}">
                <a16:creationId xmlns:a16="http://schemas.microsoft.com/office/drawing/2014/main" id="{3054FC1C-C2AF-48A0-BA59-12CF19625AB0}"/>
              </a:ext>
            </a:extLst>
          </p:cNvPr>
          <p:cNvSpPr>
            <a:spLocks xmlns:a="http://schemas.openxmlformats.org/drawingml/2006/main" noGrp="1"/>
          </p:cNvSpPr>
          <p:nvPr/>
        </p:nvSpPr>
        <p:spPr>
          <a:xfrm xmlns:a="http://schemas.openxmlformats.org/drawingml/2006/main">
            <a:off x="714375" y="5353050"/>
            <a:ext cx="447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6258"/>
                </a:solidFill>
                <a:latin typeface="DM Sans"/>
                <a:ea typeface="DM Sans"/>
                <a:cs typeface="DM Sans"/>
              </a:defRPr>
            </a:pPr>
            <a:r>
              <a:rPr sz="1800" b="0">
                <a:solidFill>
                  <a:srgbClr val="656258"/>
                </a:solidFill>
                <a:latin typeface="DM Sans"/>
                <a:ea typeface="DM Sans"/>
                <a:cs typeface="DM Sans"/>
              </a:rPr>
              <a:t>of user-catalog cells unobserved</a:t>
            </a:r>
          </a:p>
        </p:txBody>
      </p:sp>
      <p:sp>
        <p:nvSpPr>
          <p:cNvPr id="11" name="">
            <a:extLst xmlns:a="http://schemas.openxmlformats.org/drawingml/2006/main">
              <a:ext uri="{FF2B5EF4-FFF2-40B4-BE49-F238E27FC236}">
                <a16:creationId xmlns:a16="http://schemas.microsoft.com/office/drawing/2014/main" id="{1FD4E859-4470-499C-9FAB-9D7B6D949D9A}"/>
              </a:ext>
            </a:extLst>
          </p:cNvPr>
          <p:cNvSpPr>
            <a:spLocks xmlns:a="http://schemas.openxmlformats.org/drawingml/2006/main" noGrp="1"/>
          </p:cNvSpPr>
          <p:nvPr/>
        </p:nvSpPr>
        <p:spPr>
          <a:xfrm xmlns:a="http://schemas.openxmlformats.org/drawingml/2006/main">
            <a:off x="5429250" y="22764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6258"/>
                </a:solidFill>
                <a:latin typeface="DM Sans"/>
                <a:ea typeface="DM Sans"/>
                <a:cs typeface="DM Sans"/>
              </a:defRPr>
            </a:pPr>
            <a:r>
              <a:rPr sz="1575" b="0">
                <a:solidFill>
                  <a:srgbClr val="656258"/>
                </a:solidFill>
                <a:latin typeface="DM Sans"/>
                <a:ea typeface="DM Sans"/>
                <a:cs typeface="DM Sans"/>
              </a:rPr>
              <a:t>Gaps between adjacent ratings within a user</a:t>
            </a:r>
          </a:p>
        </p:txBody>
      </p:sp>
      <p:graphicFrame>
        <p:nvGraphicFramePr>
          <p:cNvPr id="26" name="Chart"/>
          <p:cNvGraphicFramePr/>
          <p:nvPr/>
        </p:nvGraphicFramePr>
        <p:xfrm>
          <a:off xmlns:a="http://schemas.openxmlformats.org/drawingml/2006/main" x="5429250" y="2857500"/>
          <a:ext xmlns:a="http://schemas.openxmlformats.org/drawingml/2006/main" cx="6096000" cy="2762250"/>
        </p:xfrm>
        <a:graphic xmlns:a="http://schemas.openxmlformats.org/drawingml/2006/main">
          <a:graphicData uri="http://schemas.openxmlformats.org/drawingml/2006/chart">
            <c:chart xmlns:r="http://schemas.openxmlformats.org/officeDocument/2006/relationships" xmlns:c="http://schemas.openxmlformats.org/drawingml/2006/chart" r:id="R4f957a6846d24b71"/>
          </a:graphicData>
        </a:graphic>
      </p:graphicFrame>
      <p:sp>
        <p:nvSpPr>
          <p:cNvPr id="13" name="">
            <a:extLst xmlns:a="http://schemas.openxmlformats.org/drawingml/2006/main">
              <a:ext uri="{FF2B5EF4-FFF2-40B4-BE49-F238E27FC236}">
                <a16:creationId xmlns:a16="http://schemas.microsoft.com/office/drawing/2014/main" id="{C5AB8F94-7DB4-4C42-ACD1-876A7CF07929}"/>
              </a:ext>
            </a:extLst>
          </p:cNvPr>
          <p:cNvSpPr>
            <a:spLocks xmlns:a="http://schemas.openxmlformats.org/drawingml/2006/main" noGrp="1"/>
          </p:cNvSpPr>
          <p:nvPr/>
        </p:nvSpPr>
        <p:spPr>
          <a:xfrm xmlns:a="http://schemas.openxmlformats.org/drawingml/2006/main">
            <a:off x="5429250" y="5695950"/>
            <a:ext cx="604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231E"/>
                </a:solidFill>
                <a:latin typeface="DM Sans"/>
                <a:ea typeface="DM Sans"/>
                <a:cs typeface="DM Sans"/>
              </a:defRPr>
            </a:pPr>
            <a:r>
              <a:rPr sz="1875" b="0">
                <a:solidFill>
                  <a:srgbClr val="24231E"/>
                </a:solidFill>
                <a:latin typeface="DM Sans"/>
                <a:ea typeface="DM Sans"/>
                <a:cs typeface="DM Sans"/>
              </a:rPr>
              <a:t>Rating order cannot establish viewing order.</a:t>
            </a:r>
          </a:p>
        </p:txBody>
      </p:sp>
      <p:sp>
        <p:nvSpPr>
          <p:cNvPr id="14" name="">
            <a:extLst xmlns:a="http://schemas.openxmlformats.org/drawingml/2006/main">
              <a:ext uri="{FF2B5EF4-FFF2-40B4-BE49-F238E27FC236}">
                <a16:creationId xmlns:a16="http://schemas.microsoft.com/office/drawing/2014/main" id="{B32E9D29-BE60-4C1B-8129-A30526040FC7}"/>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Source: MovieLens 1M. All 994,169 within-user adjacent gaps.</a:t>
            </a:r>
          </a:p>
        </p:txBody>
      </p:sp>
    </p:spTree>
    <p:extLst>
      <p:ext uri="{BB962C8B-B14F-4D97-AF65-F5344CB8AC3E}">
        <p14:creationId xmlns:p14="http://schemas.microsoft.com/office/powerpoint/2010/main" val="789681101"/>
      </p:ext>
    </p:extLst>
  </p:cSld>
</p:sld>
</file>

<file path=ppt/slides/slide3.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658F63-1DDF-485B-9CBB-97CB6293D51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A867E5-44E3-4ED7-87E3-D4139B56B91B}"/>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F513DA18-6A1A-4967-AFE7-0A5934B4ECB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MODELING</a:t>
            </a:r>
          </a:p>
        </p:txBody>
      </p:sp>
      <p:sp>
        <p:nvSpPr>
          <p:cNvPr id="4" name="">
            <a:extLst xmlns:a="http://schemas.openxmlformats.org/drawingml/2006/main">
              <a:ext uri="{FF2B5EF4-FFF2-40B4-BE49-F238E27FC236}">
                <a16:creationId xmlns:a16="http://schemas.microsoft.com/office/drawing/2014/main" id="{138A3C49-14FD-4CD6-A74A-784BB44819F5}"/>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25951C-5019-440B-AC98-5BFAB5028F43}"/>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24231E"/>
                </a:solidFill>
                <a:latin typeface="Bebas Neue"/>
                <a:ea typeface="Bebas Neue"/>
                <a:cs typeface="Bebas Neue"/>
              </a:defRPr>
            </a:pPr>
            <a:r>
              <a:rPr sz="5100" b="0">
                <a:solidFill>
                  <a:srgbClr val="24231E"/>
                </a:solidFill>
                <a:latin typeface="Bebas Neue"/>
                <a:ea typeface="Bebas Neue"/>
                <a:cs typeface="Bebas Neue"/>
              </a:rPr>
              <a:t>Course method and project extension</a:t>
            </a:r>
          </a:p>
        </p:txBody>
      </p:sp>
      <p:sp>
        <p:nvSpPr>
          <p:cNvPr id="6" name="">
            <a:extLst xmlns:a="http://schemas.openxmlformats.org/drawingml/2006/main">
              <a:ext uri="{FF2B5EF4-FFF2-40B4-BE49-F238E27FC236}">
                <a16:creationId xmlns:a16="http://schemas.microsoft.com/office/drawing/2014/main" id="{0E7495B0-D9C2-4FC9-8D0B-8119F36201A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03</a:t>
            </a:r>
          </a:p>
        </p:txBody>
      </p:sp>
      <p:sp>
        <p:nvSpPr>
          <p:cNvPr id="7" name="">
            <a:extLst xmlns:a="http://schemas.openxmlformats.org/drawingml/2006/main">
              <a:ext uri="{FF2B5EF4-FFF2-40B4-BE49-F238E27FC236}">
                <a16:creationId xmlns:a16="http://schemas.microsoft.com/office/drawing/2014/main" id="{4D25B018-EEB6-4741-A3E9-185BCC7B536D}"/>
              </a:ext>
            </a:extLst>
          </p:cNvPr>
          <p:cNvSpPr>
            <a:spLocks xmlns:a="http://schemas.openxmlformats.org/drawingml/2006/main" noGrp="1"/>
          </p:cNvSpPr>
          <p:nvPr/>
        </p:nvSpPr>
        <p:spPr>
          <a:xfrm xmlns:a="http://schemas.openxmlformats.org/drawingml/2006/main">
            <a:off x="714375" y="22193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24231E"/>
                </a:solidFill>
                <a:latin typeface="Bebas Neue"/>
                <a:ea typeface="Bebas Neue"/>
                <a:cs typeface="Bebas Neue"/>
              </a:defRPr>
            </a:pPr>
            <a:r>
              <a:rPr sz="3450" b="0">
                <a:solidFill>
                  <a:srgbClr val="24231E"/>
                </a:solidFill>
                <a:latin typeface="Bebas Neue"/>
                <a:ea typeface="Bebas Neue"/>
                <a:cs typeface="Bebas Neue"/>
              </a:rPr>
              <a:t>MATRIX FACTORIZATION</a:t>
            </a:r>
          </a:p>
        </p:txBody>
      </p:sp>
      <p:sp>
        <p:nvSpPr>
          <p:cNvPr id="8" name="">
            <a:extLst xmlns:a="http://schemas.openxmlformats.org/drawingml/2006/main">
              <a:ext uri="{FF2B5EF4-FFF2-40B4-BE49-F238E27FC236}">
                <a16:creationId xmlns:a16="http://schemas.microsoft.com/office/drawing/2014/main" id="{812ECBED-348F-4BD2-A875-1D4A67CF5D96}"/>
              </a:ext>
            </a:extLst>
          </p:cNvPr>
          <p:cNvSpPr>
            <a:spLocks xmlns:a="http://schemas.openxmlformats.org/drawingml/2006/main" noGrp="1"/>
          </p:cNvSpPr>
          <p:nvPr/>
        </p:nvSpPr>
        <p:spPr>
          <a:xfrm xmlns:a="http://schemas.openxmlformats.org/drawingml/2006/main">
            <a:off x="714375" y="3028950"/>
            <a:ext cx="5191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Predict a missing star rating</a:t>
            </a:r>
          </a:p>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from user and movie factors.</a:t>
            </a:r>
          </a:p>
        </p:txBody>
      </p:sp>
      <p:sp>
        <p:nvSpPr>
          <p:cNvPr id="9" name="">
            <a:extLst xmlns:a="http://schemas.openxmlformats.org/drawingml/2006/main">
              <a:ext uri="{FF2B5EF4-FFF2-40B4-BE49-F238E27FC236}">
                <a16:creationId xmlns:a16="http://schemas.microsoft.com/office/drawing/2014/main" id="{B8A20936-2857-4A38-AC32-42964BC9CA60}"/>
              </a:ext>
            </a:extLst>
          </p:cNvPr>
          <p:cNvSpPr>
            <a:spLocks xmlns:a="http://schemas.openxmlformats.org/drawingml/2006/main" noGrp="1"/>
          </p:cNvSpPr>
          <p:nvPr/>
        </p:nvSpPr>
        <p:spPr>
          <a:xfrm xmlns:a="http://schemas.openxmlformats.org/drawingml/2006/main">
            <a:off x="714375" y="4572000"/>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Lecture: softImpute with cross-validation.</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Metadata can extend the prediction.</a:t>
            </a:r>
          </a:p>
        </p:txBody>
      </p:sp>
      <p:sp>
        <p:nvSpPr>
          <p:cNvPr id="10" name="">
            <a:extLst xmlns:a="http://schemas.openxmlformats.org/drawingml/2006/main">
              <a:ext uri="{FF2B5EF4-FFF2-40B4-BE49-F238E27FC236}">
                <a16:creationId xmlns:a16="http://schemas.microsoft.com/office/drawing/2014/main" id="{9D61256A-FF45-4F68-BA8D-584E93CF15D8}"/>
              </a:ext>
            </a:extLst>
          </p:cNvPr>
          <p:cNvSpPr>
            <a:spLocks xmlns:a="http://schemas.openxmlformats.org/drawingml/2006/main" noGrp="1"/>
          </p:cNvSpPr>
          <p:nvPr/>
        </p:nvSpPr>
        <p:spPr>
          <a:xfrm xmlns:a="http://schemas.openxmlformats.org/drawingml/2006/main">
            <a:off x="6915150" y="221932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E46242"/>
                </a:solidFill>
                <a:latin typeface="Bebas Neue"/>
                <a:ea typeface="Bebas Neue"/>
                <a:cs typeface="Bebas Neue"/>
              </a:defRPr>
            </a:pPr>
            <a:r>
              <a:rPr sz="3450" b="0">
                <a:solidFill>
                  <a:srgbClr val="E46242"/>
                </a:solidFill>
                <a:latin typeface="Bebas Neue"/>
                <a:ea typeface="Bebas Neue"/>
                <a:cs typeface="Bebas Neue"/>
              </a:rPr>
              <a:t>ADAPTED NEXTITNET</a:t>
            </a:r>
          </a:p>
        </p:txBody>
      </p:sp>
      <p:sp>
        <p:nvSpPr>
          <p:cNvPr id="11" name="">
            <a:extLst xmlns:a="http://schemas.openxmlformats.org/drawingml/2006/main">
              <a:ext uri="{FF2B5EF4-FFF2-40B4-BE49-F238E27FC236}">
                <a16:creationId xmlns:a16="http://schemas.microsoft.com/office/drawing/2014/main" id="{34C215A4-A967-4128-AA10-7C94AA7FF694}"/>
              </a:ext>
            </a:extLst>
          </p:cNvPr>
          <p:cNvSpPr>
            <a:spLocks xmlns:a="http://schemas.openxmlformats.org/drawingml/2006/main" noGrp="1"/>
          </p:cNvSpPr>
          <p:nvPr/>
        </p:nvSpPr>
        <p:spPr>
          <a:xfrm xmlns:a="http://schemas.openxmlformats.org/drawingml/2006/main">
            <a:off x="6915150" y="3028950"/>
            <a:ext cx="4629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Predict the next rated movie</a:t>
            </a:r>
          </a:p>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from recent movie IDs.</a:t>
            </a:r>
          </a:p>
        </p:txBody>
      </p:sp>
      <p:sp>
        <p:nvSpPr>
          <p:cNvPr id="12" name="">
            <a:extLst xmlns:a="http://schemas.openxmlformats.org/drawingml/2006/main">
              <a:ext uri="{FF2B5EF4-FFF2-40B4-BE49-F238E27FC236}">
                <a16:creationId xmlns:a16="http://schemas.microsoft.com/office/drawing/2014/main" id="{1CC321C0-2BE9-4438-A022-597BB389A5AF}"/>
              </a:ext>
            </a:extLst>
          </p:cNvPr>
          <p:cNvSpPr>
            <a:spLocks xmlns:a="http://schemas.openxmlformats.org/drawingml/2006/main" noGrp="1"/>
          </p:cNvSpPr>
          <p:nvPr/>
        </p:nvSpPr>
        <p:spPr>
          <a:xfrm xmlns:a="http://schemas.openxmlformats.org/drawingml/2006/main">
            <a:off x="6915150" y="457200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Causal convolution encoder.</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Validation selects 10 recent items.</a:t>
            </a:r>
          </a:p>
        </p:txBody>
      </p:sp>
      <p:sp>
        <p:nvSpPr>
          <p:cNvPr id="13" name="">
            <a:extLst xmlns:a="http://schemas.openxmlformats.org/drawingml/2006/main">
              <a:ext uri="{FF2B5EF4-FFF2-40B4-BE49-F238E27FC236}">
                <a16:creationId xmlns:a16="http://schemas.microsoft.com/office/drawing/2014/main" id="{D43952B8-0171-4C29-A825-467A3DD7B798}"/>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The prediction target and training objective differ.</a:t>
            </a:r>
          </a:p>
        </p:txBody>
      </p:sp>
    </p:spTree>
    <p:extLst>
      <p:ext uri="{BB962C8B-B14F-4D97-AF65-F5344CB8AC3E}">
        <p14:creationId xmlns:p14="http://schemas.microsoft.com/office/powerpoint/2010/main" val="712286830"/>
      </p:ext>
    </p:extLst>
  </p:cSld>
</p:sld>
</file>

<file path=ppt/slides/slide4.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6062BC-3221-4BD4-BC77-0E4B0EF07BF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D2D4C-8536-4465-A46F-EFBF76E41AB8}"/>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16A79108-84D5-4ACA-9B52-BE2DCDF8E47D}"/>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EVALUATION PROTOCOL</a:t>
            </a:r>
          </a:p>
        </p:txBody>
      </p:sp>
      <p:sp>
        <p:nvSpPr>
          <p:cNvPr id="4" name="">
            <a:extLst xmlns:a="http://schemas.openxmlformats.org/drawingml/2006/main">
              <a:ext uri="{FF2B5EF4-FFF2-40B4-BE49-F238E27FC236}">
                <a16:creationId xmlns:a16="http://schemas.microsoft.com/office/drawing/2014/main" id="{8DED8ABA-200C-443D-A944-6C8C20AF02FE}"/>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7FE8F-E492-449F-8994-79CFB2288134}"/>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F1E8D5"/>
                </a:solidFill>
                <a:latin typeface="Bebas Neue"/>
                <a:ea typeface="Bebas Neue"/>
                <a:cs typeface="Bebas Neue"/>
              </a:defRPr>
            </a:pPr>
            <a:r>
              <a:rPr sz="5100" b="0">
                <a:solidFill>
                  <a:srgbClr val="F1E8D5"/>
                </a:solidFill>
                <a:latin typeface="Bebas Neue"/>
                <a:ea typeface="Bebas Neue"/>
                <a:cs typeface="Bebas Neue"/>
              </a:rPr>
              <a:t>Evaluation setup</a:t>
            </a:r>
          </a:p>
        </p:txBody>
      </p:sp>
      <p:sp>
        <p:nvSpPr>
          <p:cNvPr id="6" name="">
            <a:extLst xmlns:a="http://schemas.openxmlformats.org/drawingml/2006/main">
              <a:ext uri="{FF2B5EF4-FFF2-40B4-BE49-F238E27FC236}">
                <a16:creationId xmlns:a16="http://schemas.microsoft.com/office/drawing/2014/main" id="{3589BF8C-73DA-4CFB-BD00-E55052BB97C3}"/>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04</a:t>
            </a:r>
          </a:p>
        </p:txBody>
      </p:sp>
      <p:sp>
        <p:nvSpPr>
          <p:cNvPr id="7" name="">
            <a:extLst xmlns:a="http://schemas.openxmlformats.org/drawingml/2006/main">
              <a:ext uri="{FF2B5EF4-FFF2-40B4-BE49-F238E27FC236}">
                <a16:creationId xmlns:a16="http://schemas.microsoft.com/office/drawing/2014/main" id="{3B850D7C-7498-49A6-A050-6FE589DE1699}"/>
              </a:ext>
            </a:extLst>
          </p:cNvPr>
          <p:cNvSpPr>
            <a:spLocks xmlns:a="http://schemas.openxmlformats.org/drawingml/2006/main" noGrp="1"/>
          </p:cNvSpPr>
          <p:nvPr/>
        </p:nvSpPr>
        <p:spPr>
          <a:xfrm xmlns:a="http://schemas.openxmlformats.org/drawingml/2006/main">
            <a:off x="714375" y="2257425"/>
            <a:ext cx="3171825" cy="9525"/>
          </a:xfrm>
          <a:prstGeom xmlns:a="http://schemas.openxmlformats.org/drawingml/2006/main" prst="rect">
            <a:avLst/>
          </a:prstGeom>
          <a:solidFill xmlns:a="http://schemas.openxmlformats.org/drawingml/2006/main">
            <a:srgbClr val="77716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4780EF-BCFC-4C43-AA3C-4FD736768525}"/>
              </a:ext>
            </a:extLst>
          </p:cNvPr>
          <p:cNvSpPr>
            <a:spLocks xmlns:a="http://schemas.openxmlformats.org/drawingml/2006/main" noGrp="1"/>
          </p:cNvSpPr>
          <p:nvPr/>
        </p:nvSpPr>
        <p:spPr>
          <a:xfrm xmlns:a="http://schemas.openxmlformats.org/drawingml/2006/main">
            <a:off x="714375" y="24669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DB8AD"/>
                </a:solidFill>
                <a:latin typeface="DM Sans"/>
                <a:ea typeface="DM Sans"/>
                <a:cs typeface="DM Sans"/>
              </a:defRPr>
            </a:pPr>
            <a:r>
              <a:rPr sz="1575" b="0">
                <a:solidFill>
                  <a:srgbClr val="BDB8AD"/>
                </a:solidFill>
                <a:latin typeface="DM Sans"/>
                <a:ea typeface="DM Sans"/>
                <a:cs typeface="DM Sans"/>
              </a:rPr>
              <a:t>TRAIN</a:t>
            </a:r>
          </a:p>
        </p:txBody>
      </p:sp>
      <p:sp>
        <p:nvSpPr>
          <p:cNvPr id="9" name="">
            <a:extLst xmlns:a="http://schemas.openxmlformats.org/drawingml/2006/main">
              <a:ext uri="{FF2B5EF4-FFF2-40B4-BE49-F238E27FC236}">
                <a16:creationId xmlns:a16="http://schemas.microsoft.com/office/drawing/2014/main" id="{C6E77364-FF45-4A40-880B-6824AB47663B}"/>
              </a:ext>
            </a:extLst>
          </p:cNvPr>
          <p:cNvSpPr>
            <a:spLocks xmlns:a="http://schemas.openxmlformats.org/drawingml/2006/main" noGrp="1"/>
          </p:cNvSpPr>
          <p:nvPr/>
        </p:nvSpPr>
        <p:spPr>
          <a:xfrm xmlns:a="http://schemas.openxmlformats.org/drawingml/2006/main">
            <a:off x="714375" y="3000375"/>
            <a:ext cx="3181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0">
                <a:solidFill>
                  <a:srgbClr val="E46242"/>
                </a:solidFill>
                <a:latin typeface="Bebas Neue"/>
                <a:ea typeface="Bebas Neue"/>
                <a:cs typeface="Bebas Neue"/>
              </a:defRPr>
            </a:pPr>
            <a:r>
              <a:rPr sz="5625" b="0">
                <a:solidFill>
                  <a:srgbClr val="E46242"/>
                </a:solidFill>
                <a:latin typeface="Bebas Neue"/>
                <a:ea typeface="Bebas Neue"/>
                <a:cs typeface="Bebas Neue"/>
              </a:rPr>
              <a:t>988,129</a:t>
            </a:r>
          </a:p>
        </p:txBody>
      </p:sp>
      <p:sp>
        <p:nvSpPr>
          <p:cNvPr id="10" name="">
            <a:extLst xmlns:a="http://schemas.openxmlformats.org/drawingml/2006/main">
              <a:ext uri="{FF2B5EF4-FFF2-40B4-BE49-F238E27FC236}">
                <a16:creationId xmlns:a16="http://schemas.microsoft.com/office/drawing/2014/main" id="{746F1652-0946-4E2A-BECC-A810E87D995F}"/>
              </a:ext>
            </a:extLst>
          </p:cNvPr>
          <p:cNvSpPr>
            <a:spLocks xmlns:a="http://schemas.openxmlformats.org/drawingml/2006/main" noGrp="1"/>
          </p:cNvSpPr>
          <p:nvPr/>
        </p:nvSpPr>
        <p:spPr>
          <a:xfrm xmlns:a="http://schemas.openxmlformats.org/drawingml/2006/main">
            <a:off x="714375" y="4124325"/>
            <a:ext cx="31813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Earlier ratings</a:t>
            </a:r>
          </a:p>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Fit model candidates</a:t>
            </a:r>
          </a:p>
        </p:txBody>
      </p:sp>
      <p:sp>
        <p:nvSpPr>
          <p:cNvPr id="11" name="">
            <a:extLst xmlns:a="http://schemas.openxmlformats.org/drawingml/2006/main">
              <a:ext uri="{FF2B5EF4-FFF2-40B4-BE49-F238E27FC236}">
                <a16:creationId xmlns:a16="http://schemas.microsoft.com/office/drawing/2014/main" id="{429D7372-C657-4CF0-BF45-8BE2EC5E4FC5}"/>
              </a:ext>
            </a:extLst>
          </p:cNvPr>
          <p:cNvSpPr>
            <a:spLocks xmlns:a="http://schemas.openxmlformats.org/drawingml/2006/main" noGrp="1"/>
          </p:cNvSpPr>
          <p:nvPr/>
        </p:nvSpPr>
        <p:spPr>
          <a:xfrm xmlns:a="http://schemas.openxmlformats.org/drawingml/2006/main">
            <a:off x="4505325" y="2257425"/>
            <a:ext cx="3171825" cy="9525"/>
          </a:xfrm>
          <a:prstGeom xmlns:a="http://schemas.openxmlformats.org/drawingml/2006/main" prst="rect">
            <a:avLst/>
          </a:prstGeom>
          <a:solidFill xmlns:a="http://schemas.openxmlformats.org/drawingml/2006/main">
            <a:srgbClr val="7771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073FF0E-954B-4BB3-A8A6-72E5D9E2072C}"/>
              </a:ext>
            </a:extLst>
          </p:cNvPr>
          <p:cNvSpPr>
            <a:spLocks xmlns:a="http://schemas.openxmlformats.org/drawingml/2006/main" noGrp="1"/>
          </p:cNvSpPr>
          <p:nvPr/>
        </p:nvSpPr>
        <p:spPr>
          <a:xfrm xmlns:a="http://schemas.openxmlformats.org/drawingml/2006/main">
            <a:off x="4505325" y="24669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DB8AD"/>
                </a:solidFill>
                <a:latin typeface="DM Sans"/>
                <a:ea typeface="DM Sans"/>
                <a:cs typeface="DM Sans"/>
              </a:defRPr>
            </a:pPr>
            <a:r>
              <a:rPr sz="1575" b="0">
                <a:solidFill>
                  <a:srgbClr val="BDB8AD"/>
                </a:solidFill>
                <a:latin typeface="DM Sans"/>
                <a:ea typeface="DM Sans"/>
                <a:cs typeface="DM Sans"/>
              </a:rPr>
              <a:t>VALIDATION</a:t>
            </a:r>
          </a:p>
        </p:txBody>
      </p:sp>
      <p:sp>
        <p:nvSpPr>
          <p:cNvPr id="13" name="">
            <a:extLst xmlns:a="http://schemas.openxmlformats.org/drawingml/2006/main">
              <a:ext uri="{FF2B5EF4-FFF2-40B4-BE49-F238E27FC236}">
                <a16:creationId xmlns:a16="http://schemas.microsoft.com/office/drawing/2014/main" id="{BB34C765-8A40-4FB1-B624-99B0E86D27C1}"/>
              </a:ext>
            </a:extLst>
          </p:cNvPr>
          <p:cNvSpPr>
            <a:spLocks xmlns:a="http://schemas.openxmlformats.org/drawingml/2006/main" noGrp="1"/>
          </p:cNvSpPr>
          <p:nvPr/>
        </p:nvSpPr>
        <p:spPr>
          <a:xfrm xmlns:a="http://schemas.openxmlformats.org/drawingml/2006/main">
            <a:off x="4505325" y="3000375"/>
            <a:ext cx="3181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0">
                <a:solidFill>
                  <a:srgbClr val="E46242"/>
                </a:solidFill>
                <a:latin typeface="Bebas Neue"/>
                <a:ea typeface="Bebas Neue"/>
                <a:cs typeface="Bebas Neue"/>
              </a:defRPr>
            </a:pPr>
            <a:r>
              <a:rPr sz="5625" b="0">
                <a:solidFill>
                  <a:srgbClr val="E46242"/>
                </a:solidFill>
                <a:latin typeface="Bebas Neue"/>
                <a:ea typeface="Bebas Neue"/>
                <a:cs typeface="Bebas Neue"/>
              </a:rPr>
              <a:t>6,040</a:t>
            </a:r>
          </a:p>
        </p:txBody>
      </p:sp>
      <p:sp>
        <p:nvSpPr>
          <p:cNvPr id="14" name="">
            <a:extLst xmlns:a="http://schemas.openxmlformats.org/drawingml/2006/main">
              <a:ext uri="{FF2B5EF4-FFF2-40B4-BE49-F238E27FC236}">
                <a16:creationId xmlns:a16="http://schemas.microsoft.com/office/drawing/2014/main" id="{60A42F61-F4BF-4D2E-8C15-62857586891D}"/>
              </a:ext>
            </a:extLst>
          </p:cNvPr>
          <p:cNvSpPr>
            <a:spLocks xmlns:a="http://schemas.openxmlformats.org/drawingml/2006/main" noGrp="1"/>
          </p:cNvSpPr>
          <p:nvPr/>
        </p:nvSpPr>
        <p:spPr>
          <a:xfrm xmlns:a="http://schemas.openxmlformats.org/drawingml/2006/main">
            <a:off x="4505325" y="4124325"/>
            <a:ext cx="31813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One per user</a:t>
            </a:r>
          </a:p>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Choose settings</a:t>
            </a:r>
          </a:p>
        </p:txBody>
      </p:sp>
      <p:sp>
        <p:nvSpPr>
          <p:cNvPr id="15" name="">
            <a:extLst xmlns:a="http://schemas.openxmlformats.org/drawingml/2006/main">
              <a:ext uri="{FF2B5EF4-FFF2-40B4-BE49-F238E27FC236}">
                <a16:creationId xmlns:a16="http://schemas.microsoft.com/office/drawing/2014/main" id="{9D2AACC2-ADD5-4359-A7AA-6DBAAD8EDD8A}"/>
              </a:ext>
            </a:extLst>
          </p:cNvPr>
          <p:cNvSpPr>
            <a:spLocks xmlns:a="http://schemas.openxmlformats.org/drawingml/2006/main" noGrp="1"/>
          </p:cNvSpPr>
          <p:nvPr/>
        </p:nvSpPr>
        <p:spPr>
          <a:xfrm xmlns:a="http://schemas.openxmlformats.org/drawingml/2006/main">
            <a:off x="8315325" y="2257425"/>
            <a:ext cx="3171825" cy="9525"/>
          </a:xfrm>
          <a:prstGeom xmlns:a="http://schemas.openxmlformats.org/drawingml/2006/main" prst="rect">
            <a:avLst/>
          </a:prstGeom>
          <a:solidFill xmlns:a="http://schemas.openxmlformats.org/drawingml/2006/main">
            <a:srgbClr val="7771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757F80-23F8-41B6-9373-E2D9FB47D777}"/>
              </a:ext>
            </a:extLst>
          </p:cNvPr>
          <p:cNvSpPr>
            <a:spLocks xmlns:a="http://schemas.openxmlformats.org/drawingml/2006/main" noGrp="1"/>
          </p:cNvSpPr>
          <p:nvPr/>
        </p:nvSpPr>
        <p:spPr>
          <a:xfrm xmlns:a="http://schemas.openxmlformats.org/drawingml/2006/main">
            <a:off x="8315325" y="24669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DB8AD"/>
                </a:solidFill>
                <a:latin typeface="DM Sans"/>
                <a:ea typeface="DM Sans"/>
                <a:cs typeface="DM Sans"/>
              </a:defRPr>
            </a:pPr>
            <a:r>
              <a:rPr sz="1575" b="0">
                <a:solidFill>
                  <a:srgbClr val="BDB8AD"/>
                </a:solidFill>
                <a:latin typeface="DM Sans"/>
                <a:ea typeface="DM Sans"/>
                <a:cs typeface="DM Sans"/>
              </a:rPr>
              <a:t>TEST</a:t>
            </a:r>
          </a:p>
        </p:txBody>
      </p:sp>
      <p:sp>
        <p:nvSpPr>
          <p:cNvPr id="17" name="">
            <a:extLst xmlns:a="http://schemas.openxmlformats.org/drawingml/2006/main">
              <a:ext uri="{FF2B5EF4-FFF2-40B4-BE49-F238E27FC236}">
                <a16:creationId xmlns:a16="http://schemas.microsoft.com/office/drawing/2014/main" id="{9EA1EB78-5C8E-404E-A36B-6E7115282313}"/>
              </a:ext>
            </a:extLst>
          </p:cNvPr>
          <p:cNvSpPr>
            <a:spLocks xmlns:a="http://schemas.openxmlformats.org/drawingml/2006/main" noGrp="1"/>
          </p:cNvSpPr>
          <p:nvPr/>
        </p:nvSpPr>
        <p:spPr>
          <a:xfrm xmlns:a="http://schemas.openxmlformats.org/drawingml/2006/main">
            <a:off x="8315325" y="3000375"/>
            <a:ext cx="3181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0">
                <a:solidFill>
                  <a:srgbClr val="E46242"/>
                </a:solidFill>
                <a:latin typeface="Bebas Neue"/>
                <a:ea typeface="Bebas Neue"/>
                <a:cs typeface="Bebas Neue"/>
              </a:defRPr>
            </a:pPr>
            <a:r>
              <a:rPr sz="5625" b="0">
                <a:solidFill>
                  <a:srgbClr val="E46242"/>
                </a:solidFill>
                <a:latin typeface="Bebas Neue"/>
                <a:ea typeface="Bebas Neue"/>
                <a:cs typeface="Bebas Neue"/>
              </a:rPr>
              <a:t>6,040</a:t>
            </a:r>
          </a:p>
        </p:txBody>
      </p:sp>
      <p:sp>
        <p:nvSpPr>
          <p:cNvPr id="18" name="">
            <a:extLst xmlns:a="http://schemas.openxmlformats.org/drawingml/2006/main">
              <a:ext uri="{FF2B5EF4-FFF2-40B4-BE49-F238E27FC236}">
                <a16:creationId xmlns:a16="http://schemas.microsoft.com/office/drawing/2014/main" id="{A0793C98-A6DA-4F1B-A7F2-33C8039391E7}"/>
              </a:ext>
            </a:extLst>
          </p:cNvPr>
          <p:cNvSpPr>
            <a:spLocks xmlns:a="http://schemas.openxmlformats.org/drawingml/2006/main" noGrp="1"/>
          </p:cNvSpPr>
          <p:nvPr/>
        </p:nvSpPr>
        <p:spPr>
          <a:xfrm xmlns:a="http://schemas.openxmlformats.org/drawingml/2006/main">
            <a:off x="8315325" y="4124325"/>
            <a:ext cx="31813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Final rating per user</a:t>
            </a:r>
          </a:p>
          <a:p xmlns:a="http://schemas.openxmlformats.org/drawingml/2006/main">
            <a:pPr>
              <a:defRPr sz="1800" b="0">
                <a:solidFill>
                  <a:srgbClr val="F1E8D5"/>
                </a:solidFill>
                <a:latin typeface="DM Sans"/>
                <a:ea typeface="DM Sans"/>
                <a:cs typeface="DM Sans"/>
              </a:defRPr>
            </a:pPr>
            <a:r>
              <a:rPr sz="1800" b="0">
                <a:solidFill>
                  <a:srgbClr val="F1E8D5"/>
                </a:solidFill>
                <a:latin typeface="DM Sans"/>
                <a:ea typeface="DM Sans"/>
                <a:cs typeface="DM Sans"/>
              </a:rPr>
              <a:t>Evaluate once</a:t>
            </a:r>
          </a:p>
        </p:txBody>
      </p:sp>
      <p:sp>
        <p:nvSpPr>
          <p:cNvPr id="19" name="">
            <a:extLst xmlns:a="http://schemas.openxmlformats.org/drawingml/2006/main">
              <a:ext uri="{FF2B5EF4-FFF2-40B4-BE49-F238E27FC236}">
                <a16:creationId xmlns:a16="http://schemas.microsoft.com/office/drawing/2014/main" id="{F9CF4311-0C93-40A9-9B39-864F9097E995}"/>
              </a:ext>
            </a:extLst>
          </p:cNvPr>
          <p:cNvSpPr>
            <a:spLocks xmlns:a="http://schemas.openxmlformats.org/drawingml/2006/main" noGrp="1"/>
          </p:cNvSpPr>
          <p:nvPr/>
        </p:nvSpPr>
        <p:spPr>
          <a:xfrm xmlns:a="http://schemas.openxmlformats.org/drawingml/2006/main">
            <a:off x="714375" y="52673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Same 6,038 eligible users and 3,704 fitted catalog items.</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Remove previously rated movies. Two unseen targets excluded.</a:t>
            </a:r>
          </a:p>
        </p:txBody>
      </p:sp>
      <p:sp>
        <p:nvSpPr>
          <p:cNvPr id="20" name="">
            <a:extLst xmlns:a="http://schemas.openxmlformats.org/drawingml/2006/main">
              <a:ext uri="{FF2B5EF4-FFF2-40B4-BE49-F238E27FC236}">
                <a16:creationId xmlns:a16="http://schemas.microsoft.com/office/drawing/2014/main" id="{BAC970E7-2E5C-41E7-BD17-0F3D4D3D25F5}"/>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Final refit includes validation history. Target is the next rated movie, at any star value.</a:t>
            </a:r>
          </a:p>
        </p:txBody>
      </p:sp>
    </p:spTree>
    <p:extLst>
      <p:ext uri="{BB962C8B-B14F-4D97-AF65-F5344CB8AC3E}">
        <p14:creationId xmlns:p14="http://schemas.microsoft.com/office/powerpoint/2010/main" val="396921125"/>
      </p:ext>
    </p:extLst>
  </p:cSld>
</p:sld>
</file>

<file path=ppt/slides/slide5.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F5B983-A107-4655-B7CE-DF49BAC706A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39046A-A843-4952-BF1A-C5B6925910E0}"/>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A8C6BEAD-CE71-4CDA-A14A-06CCF81A16C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RESULTS</a:t>
            </a:r>
          </a:p>
        </p:txBody>
      </p:sp>
      <p:sp>
        <p:nvSpPr>
          <p:cNvPr id="4" name="">
            <a:extLst xmlns:a="http://schemas.openxmlformats.org/drawingml/2006/main">
              <a:ext uri="{FF2B5EF4-FFF2-40B4-BE49-F238E27FC236}">
                <a16:creationId xmlns:a16="http://schemas.microsoft.com/office/drawing/2014/main" id="{D0767485-D0A2-40A1-851F-88F6FA4A3B16}"/>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06D84F-EB71-4756-93DC-FA3B2AF71915}"/>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24231E"/>
                </a:solidFill>
                <a:latin typeface="Bebas Neue"/>
                <a:ea typeface="Bebas Neue"/>
                <a:cs typeface="Bebas Neue"/>
              </a:defRPr>
            </a:pPr>
            <a:r>
              <a:rPr sz="4875" b="0">
                <a:solidFill>
                  <a:srgbClr val="24231E"/>
                </a:solidFill>
                <a:latin typeface="Bebas Neue"/>
                <a:ea typeface="Bebas Neue"/>
                <a:cs typeface="Bebas Neue"/>
              </a:rPr>
              <a:t>NextItNet leads the tested ranking baselines</a:t>
            </a:r>
          </a:p>
        </p:txBody>
      </p:sp>
      <p:sp>
        <p:nvSpPr>
          <p:cNvPr id="6" name="">
            <a:extLst xmlns:a="http://schemas.openxmlformats.org/drawingml/2006/main">
              <a:ext uri="{FF2B5EF4-FFF2-40B4-BE49-F238E27FC236}">
                <a16:creationId xmlns:a16="http://schemas.microsoft.com/office/drawing/2014/main" id="{06E7BF4A-0895-4AAC-8941-DAB48261578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05</a:t>
            </a:r>
          </a:p>
        </p:txBody>
      </p:sp>
      <p:graphicFrame>
        <p:nvGraphicFramePr>
          <p:cNvPr id="18" name="Chart"/>
          <p:cNvGraphicFramePr/>
          <p:nvPr/>
        </p:nvGraphicFramePr>
        <p:xfrm>
          <a:off xmlns:a="http://schemas.openxmlformats.org/drawingml/2006/main" x="714375" y="2352675"/>
          <a:ext xmlns:a="http://schemas.openxmlformats.org/drawingml/2006/main" cx="7115175" cy="3381375"/>
        </p:xfrm>
        <a:graphic xmlns:a="http://schemas.openxmlformats.org/drawingml/2006/main">
          <a:graphicData uri="http://schemas.openxmlformats.org/drawingml/2006/chart">
            <c:chart xmlns:r="http://schemas.openxmlformats.org/officeDocument/2006/relationships" xmlns:c="http://schemas.openxmlformats.org/drawingml/2006/chart" r:id="R3015a68b2dbe4832"/>
          </a:graphicData>
        </a:graphic>
      </p:graphicFrame>
      <p:sp>
        <p:nvSpPr>
          <p:cNvPr id="8" name="">
            <a:extLst xmlns:a="http://schemas.openxmlformats.org/drawingml/2006/main">
              <a:ext uri="{FF2B5EF4-FFF2-40B4-BE49-F238E27FC236}">
                <a16:creationId xmlns:a16="http://schemas.microsoft.com/office/drawing/2014/main" id="{929A6E51-7458-442A-B677-482894C644A9}"/>
              </a:ext>
            </a:extLst>
          </p:cNvPr>
          <p:cNvSpPr>
            <a:spLocks xmlns:a="http://schemas.openxmlformats.org/drawingml/2006/main" noGrp="1"/>
          </p:cNvSpPr>
          <p:nvPr/>
        </p:nvSpPr>
        <p:spPr>
          <a:xfrm xmlns:a="http://schemas.openxmlformats.org/drawingml/2006/main">
            <a:off x="8420100" y="2343150"/>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75" b="0">
                <a:solidFill>
                  <a:srgbClr val="E46242"/>
                </a:solidFill>
                <a:latin typeface="Bebas Neue"/>
                <a:ea typeface="Bebas Neue"/>
                <a:cs typeface="Bebas Neue"/>
              </a:defRPr>
            </a:pPr>
            <a:r>
              <a:rPr sz="7275" b="0">
                <a:solidFill>
                  <a:srgbClr val="E46242"/>
                </a:solidFill>
                <a:latin typeface="Bebas Neue"/>
                <a:ea typeface="Bebas Neue"/>
                <a:cs typeface="Bebas Neue"/>
              </a:rPr>
              <a:t>+12.54</a:t>
            </a:r>
          </a:p>
        </p:txBody>
      </p:sp>
      <p:sp>
        <p:nvSpPr>
          <p:cNvPr id="9" name="">
            <a:extLst xmlns:a="http://schemas.openxmlformats.org/drawingml/2006/main">
              <a:ext uri="{FF2B5EF4-FFF2-40B4-BE49-F238E27FC236}">
                <a16:creationId xmlns:a16="http://schemas.microsoft.com/office/drawing/2014/main" id="{35160E14-3D8E-413A-B05F-B1A2D7A206EA}"/>
              </a:ext>
            </a:extLst>
          </p:cNvPr>
          <p:cNvSpPr>
            <a:spLocks xmlns:a="http://schemas.openxmlformats.org/drawingml/2006/main" noGrp="1"/>
          </p:cNvSpPr>
          <p:nvPr/>
        </p:nvSpPr>
        <p:spPr>
          <a:xfrm xmlns:a="http://schemas.openxmlformats.org/drawingml/2006/main">
            <a:off x="8420100" y="3600450"/>
            <a:ext cx="304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231E"/>
                </a:solidFill>
                <a:latin typeface="DM Sans"/>
                <a:ea typeface="DM Sans"/>
                <a:cs typeface="DM Sans"/>
              </a:defRPr>
            </a:pPr>
            <a:r>
              <a:rPr sz="1875" b="0">
                <a:solidFill>
                  <a:srgbClr val="24231E"/>
                </a:solidFill>
                <a:latin typeface="DM Sans"/>
                <a:ea typeface="DM Sans"/>
                <a:cs typeface="DM Sans"/>
              </a:rPr>
              <a:t>percentage points</a:t>
            </a:r>
          </a:p>
          <a:p xmlns:a="http://schemas.openxmlformats.org/drawingml/2006/main">
            <a:pPr>
              <a:defRPr sz="1875" b="0">
                <a:solidFill>
                  <a:srgbClr val="24231E"/>
                </a:solidFill>
                <a:latin typeface="DM Sans"/>
                <a:ea typeface="DM Sans"/>
                <a:cs typeface="DM Sans"/>
              </a:defRPr>
            </a:pPr>
            <a:r>
              <a:rPr sz="1875" b="0">
                <a:solidFill>
                  <a:srgbClr val="24231E"/>
                </a:solidFill>
                <a:latin typeface="DM Sans"/>
                <a:ea typeface="DM Sans"/>
                <a:cs typeface="DM Sans"/>
              </a:rPr>
              <a:t>over item-kNN</a:t>
            </a:r>
          </a:p>
        </p:txBody>
      </p:sp>
      <p:sp>
        <p:nvSpPr>
          <p:cNvPr id="10" name="">
            <a:extLst xmlns:a="http://schemas.openxmlformats.org/drawingml/2006/main">
              <a:ext uri="{FF2B5EF4-FFF2-40B4-BE49-F238E27FC236}">
                <a16:creationId xmlns:a16="http://schemas.microsoft.com/office/drawing/2014/main" id="{BC500BB9-4E43-4864-9AC0-12FA0E6E6FEC}"/>
              </a:ext>
            </a:extLst>
          </p:cNvPr>
          <p:cNvSpPr>
            <a:spLocks xmlns:a="http://schemas.openxmlformats.org/drawingml/2006/main" noGrp="1"/>
          </p:cNvSpPr>
          <p:nvPr/>
        </p:nvSpPr>
        <p:spPr>
          <a:xfrm xmlns:a="http://schemas.openxmlformats.org/drawingml/2006/main">
            <a:off x="8420100" y="4905375"/>
            <a:ext cx="30575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NDCG@10: 0.1049</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Paired 95% improvement interval</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[0.05981, 0.07224]</a:t>
            </a:r>
          </a:p>
        </p:txBody>
      </p:sp>
      <p:sp>
        <p:nvSpPr>
          <p:cNvPr id="11" name="">
            <a:extLst xmlns:a="http://schemas.openxmlformats.org/drawingml/2006/main">
              <a:ext uri="{FF2B5EF4-FFF2-40B4-BE49-F238E27FC236}">
                <a16:creationId xmlns:a16="http://schemas.microsoft.com/office/drawing/2014/main" id="{E5786A09-1E45-4C2A-A5BF-80C33692F906}"/>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HR@10: held-out movie appears among ten recommendations. Same 6,038 users.</a:t>
            </a:r>
          </a:p>
        </p:txBody>
      </p:sp>
    </p:spTree>
    <p:extLst>
      <p:ext uri="{BB962C8B-B14F-4D97-AF65-F5344CB8AC3E}">
        <p14:creationId xmlns:p14="http://schemas.microsoft.com/office/powerpoint/2010/main" val="471108675"/>
      </p:ext>
    </p:extLst>
  </p:cSld>
</p:sld>
</file>

<file path=ppt/slides/slide6.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0AD4CC-0412-4C6C-A51B-2E3989646F3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0F8DC-6026-497E-A277-8627C26BAB8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BE07FE5C-E596-432D-8922-378E80436D69}"/>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ROBUSTNESS</a:t>
            </a:r>
          </a:p>
        </p:txBody>
      </p:sp>
      <p:sp>
        <p:nvSpPr>
          <p:cNvPr id="4" name="">
            <a:extLst xmlns:a="http://schemas.openxmlformats.org/drawingml/2006/main">
              <a:ext uri="{FF2B5EF4-FFF2-40B4-BE49-F238E27FC236}">
                <a16:creationId xmlns:a16="http://schemas.microsoft.com/office/drawing/2014/main" id="{551A7535-05A4-49C3-893B-856D34A6D538}"/>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1301C2-4D1E-436B-A1D1-1BB28C1B1617}"/>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F1E8D5"/>
                </a:solidFill>
                <a:latin typeface="Bebas Neue"/>
                <a:ea typeface="Bebas Neue"/>
                <a:cs typeface="Bebas Neue"/>
              </a:defRPr>
            </a:pPr>
            <a:r>
              <a:rPr sz="5100" b="0">
                <a:solidFill>
                  <a:srgbClr val="F1E8D5"/>
                </a:solidFill>
                <a:latin typeface="Bebas Neue"/>
                <a:ea typeface="Bebas Neue"/>
                <a:cs typeface="Bebas Neue"/>
              </a:rPr>
              <a:t>A stricter timestamp check</a:t>
            </a:r>
          </a:p>
        </p:txBody>
      </p:sp>
      <p:sp>
        <p:nvSpPr>
          <p:cNvPr id="6" name="">
            <a:extLst xmlns:a="http://schemas.openxmlformats.org/drawingml/2006/main">
              <a:ext uri="{FF2B5EF4-FFF2-40B4-BE49-F238E27FC236}">
                <a16:creationId xmlns:a16="http://schemas.microsoft.com/office/drawing/2014/main" id="{F5A5AB6C-7B45-4B54-B28B-A7B075DE483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DB8AD"/>
                </a:solidFill>
                <a:latin typeface="DM Sans"/>
                <a:ea typeface="DM Sans"/>
                <a:cs typeface="DM Sans"/>
              </a:defRPr>
            </a:pPr>
            <a:r>
              <a:rPr sz="1275" b="0">
                <a:solidFill>
                  <a:srgbClr val="BDB8AD"/>
                </a:solidFill>
                <a:latin typeface="DM Sans"/>
                <a:ea typeface="DM Sans"/>
                <a:cs typeface="DM Sans"/>
              </a:rPr>
              <a:t>06</a:t>
            </a:r>
          </a:p>
        </p:txBody>
      </p:sp>
      <p:sp>
        <p:nvSpPr>
          <p:cNvPr id="7" name="">
            <a:extLst xmlns:a="http://schemas.openxmlformats.org/drawingml/2006/main">
              <a:ext uri="{FF2B5EF4-FFF2-40B4-BE49-F238E27FC236}">
                <a16:creationId xmlns:a16="http://schemas.microsoft.com/office/drawing/2014/main" id="{847AC9D8-E1DD-465E-9A54-10A8617EC2BC}"/>
              </a:ext>
            </a:extLst>
          </p:cNvPr>
          <p:cNvSpPr>
            <a:spLocks xmlns:a="http://schemas.openxmlformats.org/drawingml/2006/main" noGrp="1"/>
          </p:cNvSpPr>
          <p:nvPr/>
        </p:nvSpPr>
        <p:spPr>
          <a:xfrm xmlns:a="http://schemas.openxmlformats.org/drawingml/2006/main">
            <a:off x="714375" y="22860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DB8AD"/>
                </a:solidFill>
                <a:latin typeface="DM Sans"/>
                <a:ea typeface="DM Sans"/>
                <a:cs typeface="DM Sans"/>
              </a:defRPr>
            </a:pPr>
            <a:r>
              <a:rPr sz="1650" b="0">
                <a:solidFill>
                  <a:srgbClr val="BDB8AD"/>
                </a:solidFill>
                <a:latin typeface="DM Sans"/>
                <a:ea typeface="DM Sans"/>
                <a:cs typeface="DM Sans"/>
              </a:rPr>
              <a:t>HR@10 for 3,494 eligible users</a:t>
            </a:r>
          </a:p>
        </p:txBody>
      </p:sp>
      <p:sp>
        <p:nvSpPr>
          <p:cNvPr id="8" name="">
            <a:extLst xmlns:a="http://schemas.openxmlformats.org/drawingml/2006/main">
              <a:ext uri="{FF2B5EF4-FFF2-40B4-BE49-F238E27FC236}">
                <a16:creationId xmlns:a16="http://schemas.microsoft.com/office/drawing/2014/main" id="{C59D83FE-B6D7-4029-A8B2-8352B4207FA3}"/>
              </a:ext>
            </a:extLst>
          </p:cNvPr>
          <p:cNvSpPr>
            <a:spLocks xmlns:a="http://schemas.openxmlformats.org/drawingml/2006/main" noGrp="1"/>
          </p:cNvSpPr>
          <p:nvPr/>
        </p:nvSpPr>
        <p:spPr>
          <a:xfrm xmlns:a="http://schemas.openxmlformats.org/drawingml/2006/main">
            <a:off x="714375" y="3267075"/>
            <a:ext cx="2619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1E8D5"/>
                </a:solidFill>
                <a:latin typeface="DM Sans"/>
                <a:ea typeface="DM Sans"/>
                <a:cs typeface="DM Sans"/>
              </a:defRPr>
            </a:pPr>
            <a:r>
              <a:rPr sz="2100" b="0">
                <a:solidFill>
                  <a:srgbClr val="F1E8D5"/>
                </a:solidFill>
                <a:latin typeface="DM Sans"/>
                <a:ea typeface="DM Sans"/>
                <a:cs typeface="DM Sans"/>
              </a:rPr>
              <a:t>NextItNet</a:t>
            </a:r>
          </a:p>
        </p:txBody>
      </p:sp>
      <p:sp>
        <p:nvSpPr>
          <p:cNvPr id="9" name="">
            <a:extLst xmlns:a="http://schemas.openxmlformats.org/drawingml/2006/main">
              <a:ext uri="{FF2B5EF4-FFF2-40B4-BE49-F238E27FC236}">
                <a16:creationId xmlns:a16="http://schemas.microsoft.com/office/drawing/2014/main" id="{A338C0DE-22E4-400A-8A69-FBC7CDA84B2D}"/>
              </a:ext>
            </a:extLst>
          </p:cNvPr>
          <p:cNvSpPr>
            <a:spLocks xmlns:a="http://schemas.openxmlformats.org/drawingml/2006/main" noGrp="1"/>
          </p:cNvSpPr>
          <p:nvPr/>
        </p:nvSpPr>
        <p:spPr>
          <a:xfrm xmlns:a="http://schemas.openxmlformats.org/drawingml/2006/main">
            <a:off x="3524250" y="2924175"/>
            <a:ext cx="3810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0">
                <a:solidFill>
                  <a:srgbClr val="E46242"/>
                </a:solidFill>
                <a:latin typeface="Bebas Neue"/>
                <a:ea typeface="Bebas Neue"/>
                <a:cs typeface="Bebas Neue"/>
              </a:defRPr>
            </a:pPr>
            <a:r>
              <a:rPr sz="6375" b="0">
                <a:solidFill>
                  <a:srgbClr val="E46242"/>
                </a:solidFill>
                <a:latin typeface="Bebas Neue"/>
                <a:ea typeface="Bebas Neue"/>
                <a:cs typeface="Bebas Neue"/>
              </a:rPr>
              <a:t>14.31%</a:t>
            </a:r>
          </a:p>
        </p:txBody>
      </p:sp>
      <p:sp>
        <p:nvSpPr>
          <p:cNvPr id="10" name="">
            <a:extLst xmlns:a="http://schemas.openxmlformats.org/drawingml/2006/main">
              <a:ext uri="{FF2B5EF4-FFF2-40B4-BE49-F238E27FC236}">
                <a16:creationId xmlns:a16="http://schemas.microsoft.com/office/drawing/2014/main" id="{714370AA-9D7D-47B3-AE64-1701676BA1DA}"/>
              </a:ext>
            </a:extLst>
          </p:cNvPr>
          <p:cNvSpPr>
            <a:spLocks xmlns:a="http://schemas.openxmlformats.org/drawingml/2006/main" noGrp="1"/>
          </p:cNvSpPr>
          <p:nvPr/>
        </p:nvSpPr>
        <p:spPr>
          <a:xfrm xmlns:a="http://schemas.openxmlformats.org/drawingml/2006/main">
            <a:off x="714375" y="4210050"/>
            <a:ext cx="6286500" cy="9525"/>
          </a:xfrm>
          <a:prstGeom xmlns:a="http://schemas.openxmlformats.org/drawingml/2006/main" prst="rect">
            <a:avLst/>
          </a:prstGeom>
          <a:solidFill xmlns:a="http://schemas.openxmlformats.org/drawingml/2006/main">
            <a:srgbClr val="56524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1D7615-097A-490A-ACC1-E9B04EDA6E81}"/>
              </a:ext>
            </a:extLst>
          </p:cNvPr>
          <p:cNvSpPr>
            <a:spLocks xmlns:a="http://schemas.openxmlformats.org/drawingml/2006/main" noGrp="1"/>
          </p:cNvSpPr>
          <p:nvPr/>
        </p:nvSpPr>
        <p:spPr>
          <a:xfrm xmlns:a="http://schemas.openxmlformats.org/drawingml/2006/main">
            <a:off x="714375" y="4610100"/>
            <a:ext cx="2619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1E8D5"/>
                </a:solidFill>
                <a:latin typeface="DM Sans"/>
                <a:ea typeface="DM Sans"/>
                <a:cs typeface="DM Sans"/>
              </a:defRPr>
            </a:pPr>
            <a:r>
              <a:rPr sz="2100" b="0">
                <a:solidFill>
                  <a:srgbClr val="F1E8D5"/>
                </a:solidFill>
                <a:latin typeface="DM Sans"/>
                <a:ea typeface="DM Sans"/>
                <a:cs typeface="DM Sans"/>
              </a:rPr>
              <a:t>item-kNN</a:t>
            </a:r>
          </a:p>
        </p:txBody>
      </p:sp>
      <p:sp>
        <p:nvSpPr>
          <p:cNvPr id="12" name="">
            <a:extLst xmlns:a="http://schemas.openxmlformats.org/drawingml/2006/main">
              <a:ext uri="{FF2B5EF4-FFF2-40B4-BE49-F238E27FC236}">
                <a16:creationId xmlns:a16="http://schemas.microsoft.com/office/drawing/2014/main" id="{EAEB98A5-7F81-4DE6-B8A1-3A6D59ECB082}"/>
              </a:ext>
            </a:extLst>
          </p:cNvPr>
          <p:cNvSpPr>
            <a:spLocks xmlns:a="http://schemas.openxmlformats.org/drawingml/2006/main" noGrp="1"/>
          </p:cNvSpPr>
          <p:nvPr/>
        </p:nvSpPr>
        <p:spPr>
          <a:xfrm xmlns:a="http://schemas.openxmlformats.org/drawingml/2006/main">
            <a:off x="3524250" y="4314825"/>
            <a:ext cx="3810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0">
                <a:solidFill>
                  <a:srgbClr val="F1E8D5"/>
                </a:solidFill>
                <a:latin typeface="Bebas Neue"/>
                <a:ea typeface="Bebas Neue"/>
                <a:cs typeface="Bebas Neue"/>
              </a:defRPr>
            </a:pPr>
            <a:r>
              <a:rPr sz="6375" b="0">
                <a:solidFill>
                  <a:srgbClr val="F1E8D5"/>
                </a:solidFill>
                <a:latin typeface="Bebas Neue"/>
                <a:ea typeface="Bebas Neue"/>
                <a:cs typeface="Bebas Neue"/>
              </a:rPr>
              <a:t>5.95%</a:t>
            </a:r>
          </a:p>
        </p:txBody>
      </p:sp>
      <p:sp>
        <p:nvSpPr>
          <p:cNvPr id="13" name="">
            <a:extLst xmlns:a="http://schemas.openxmlformats.org/drawingml/2006/main">
              <a:ext uri="{FF2B5EF4-FFF2-40B4-BE49-F238E27FC236}">
                <a16:creationId xmlns:a16="http://schemas.microsoft.com/office/drawing/2014/main" id="{B599E1C0-B706-4E21-B91C-9FADF0472118}"/>
              </a:ext>
            </a:extLst>
          </p:cNvPr>
          <p:cNvSpPr>
            <a:spLocks xmlns:a="http://schemas.openxmlformats.org/drawingml/2006/main" noGrp="1"/>
          </p:cNvSpPr>
          <p:nvPr/>
        </p:nvSpPr>
        <p:spPr>
          <a:xfrm xmlns:a="http://schemas.openxmlformats.org/drawingml/2006/main">
            <a:off x="714375" y="5572125"/>
            <a:ext cx="6286500" cy="9525"/>
          </a:xfrm>
          <a:prstGeom xmlns:a="http://schemas.openxmlformats.org/drawingml/2006/main" prst="rect">
            <a:avLst/>
          </a:prstGeom>
          <a:solidFill xmlns:a="http://schemas.openxmlformats.org/drawingml/2006/main">
            <a:srgbClr val="56524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7EF8BD-E4CA-40F7-BF7A-9E82ACA0F687}"/>
              </a:ext>
            </a:extLst>
          </p:cNvPr>
          <p:cNvSpPr>
            <a:spLocks xmlns:a="http://schemas.openxmlformats.org/drawingml/2006/main" noGrp="1"/>
          </p:cNvSpPr>
          <p:nvPr/>
        </p:nvSpPr>
        <p:spPr>
          <a:xfrm xmlns:a="http://schemas.openxmlformats.org/drawingml/2006/main">
            <a:off x="714375" y="5724525"/>
            <a:ext cx="619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DB8AD"/>
                </a:solidFill>
                <a:latin typeface="DM Sans"/>
                <a:ea typeface="DM Sans"/>
                <a:cs typeface="DM Sans"/>
              </a:defRPr>
            </a:pPr>
            <a:r>
              <a:rPr sz="1500" b="0">
                <a:solidFill>
                  <a:srgbClr val="BDB8AD"/>
                </a:solidFill>
                <a:latin typeface="DM Sans"/>
                <a:ea typeface="DM Sans"/>
                <a:cs typeface="DM Sans"/>
              </a:rPr>
              <a:t>Final rating timestamp is strictly later</a:t>
            </a:r>
          </a:p>
          <a:p xmlns:a="http://schemas.openxmlformats.org/drawingml/2006/main">
            <a:pPr>
              <a:defRPr sz="1500" b="0">
                <a:solidFill>
                  <a:srgbClr val="BDB8AD"/>
                </a:solidFill>
                <a:latin typeface="DM Sans"/>
                <a:ea typeface="DM Sans"/>
                <a:cs typeface="DM Sans"/>
              </a:defRPr>
            </a:pPr>
            <a:r>
              <a:rPr sz="1500" b="0">
                <a:solidFill>
                  <a:srgbClr val="BDB8AD"/>
                </a:solidFill>
                <a:latin typeface="DM Sans"/>
                <a:ea typeface="DM Sans"/>
                <a:cs typeface="DM Sans"/>
              </a:rPr>
              <a:t>than the preceding rating.</a:t>
            </a:r>
          </a:p>
        </p:txBody>
      </p:sp>
      <p:sp>
        <p:nvSpPr>
          <p:cNvPr id="15" name="">
            <a:extLst xmlns:a="http://schemas.openxmlformats.org/drawingml/2006/main">
              <a:ext uri="{FF2B5EF4-FFF2-40B4-BE49-F238E27FC236}">
                <a16:creationId xmlns:a16="http://schemas.microsoft.com/office/drawing/2014/main" id="{2179141E-A37F-409F-98AD-B50C486BE71F}"/>
              </a:ext>
            </a:extLst>
          </p:cNvPr>
          <p:cNvSpPr>
            <a:spLocks xmlns:a="http://schemas.openxmlformats.org/drawingml/2006/main" noGrp="1"/>
          </p:cNvSpPr>
          <p:nvPr/>
        </p:nvSpPr>
        <p:spPr>
          <a:xfrm xmlns:a="http://schemas.openxmlformats.org/drawingml/2006/main">
            <a:off x="7867650" y="2514600"/>
            <a:ext cx="352425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The advantage persists.</a:t>
            </a:r>
          </a:p>
          <a:p xmlns:a="http://schemas.openxmlformats.org/drawingml/2006/main">
            <a:r>
              <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A global time split and retrained</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shuffled-history comparison</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remain necessary.</a:t>
            </a:r>
          </a:p>
        </p:txBody>
      </p:sp>
      <p:sp>
        <p:nvSpPr>
          <p:cNvPr id="16" name="">
            <a:extLst xmlns:a="http://schemas.openxmlformats.org/drawingml/2006/main">
              <a:ext uri="{FF2B5EF4-FFF2-40B4-BE49-F238E27FC236}">
                <a16:creationId xmlns:a16="http://schemas.microsoft.com/office/drawing/2014/main" id="{D69CDF3F-7885-4FED-8646-AE5B0D4102F0}"/>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This cohort removes a test-boundary tie. It still contains other timing ambiguities.</a:t>
            </a:r>
          </a:p>
        </p:txBody>
      </p:sp>
    </p:spTree>
    <p:extLst>
      <p:ext uri="{BB962C8B-B14F-4D97-AF65-F5344CB8AC3E}">
        <p14:creationId xmlns:p14="http://schemas.microsoft.com/office/powerpoint/2010/main" val="519814442"/>
      </p:ext>
    </p:extLst>
  </p:cSld>
</p:sld>
</file>

<file path=ppt/slides/slide7.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66F9C4-1922-4B11-88F9-74A8834432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5D1A28-7F28-47C1-832B-558E18A1E14A}"/>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7F272B6D-0478-4C11-9DD8-D81426B0A580}"/>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DEPLOYMENT</a:t>
            </a:r>
          </a:p>
        </p:txBody>
      </p:sp>
      <p:sp>
        <p:nvSpPr>
          <p:cNvPr id="4" name="">
            <a:extLst xmlns:a="http://schemas.openxmlformats.org/drawingml/2006/main">
              <a:ext uri="{FF2B5EF4-FFF2-40B4-BE49-F238E27FC236}">
                <a16:creationId xmlns:a16="http://schemas.microsoft.com/office/drawing/2014/main" id="{2E82FA50-1E1F-42CB-82E6-90766ACDC2EC}"/>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E61E85-6677-4B52-B3DD-589D7141CF9B}"/>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0">
                <a:solidFill>
                  <a:srgbClr val="24231E"/>
                </a:solidFill>
                <a:latin typeface="Bebas Neue"/>
                <a:ea typeface="Bebas Neue"/>
                <a:cs typeface="Bebas Neue"/>
              </a:defRPr>
            </a:pPr>
            <a:r>
              <a:rPr sz="5100" b="0">
                <a:solidFill>
                  <a:srgbClr val="24231E"/>
                </a:solidFill>
                <a:latin typeface="Bebas Neue"/>
                <a:ea typeface="Bebas Neue"/>
                <a:cs typeface="Bebas Neue"/>
              </a:rPr>
              <a:t>A limited pilot is the next step</a:t>
            </a:r>
          </a:p>
        </p:txBody>
      </p:sp>
      <p:sp>
        <p:nvSpPr>
          <p:cNvPr id="6" name="">
            <a:extLst xmlns:a="http://schemas.openxmlformats.org/drawingml/2006/main">
              <a:ext uri="{FF2B5EF4-FFF2-40B4-BE49-F238E27FC236}">
                <a16:creationId xmlns:a16="http://schemas.microsoft.com/office/drawing/2014/main" id="{AB30A743-ADD7-4CB9-A744-2C351F44020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6258"/>
                </a:solidFill>
                <a:latin typeface="DM Sans"/>
                <a:ea typeface="DM Sans"/>
                <a:cs typeface="DM Sans"/>
              </a:defRPr>
            </a:pPr>
            <a:r>
              <a:rPr sz="1275" b="0">
                <a:solidFill>
                  <a:srgbClr val="656258"/>
                </a:solidFill>
                <a:latin typeface="DM Sans"/>
                <a:ea typeface="DM Sans"/>
                <a:cs typeface="DM Sans"/>
              </a:rPr>
              <a:t>07</a:t>
            </a:r>
          </a:p>
        </p:txBody>
      </p:sp>
      <p:sp>
        <p:nvSpPr>
          <p:cNvPr id="7" name="">
            <a:extLst xmlns:a="http://schemas.openxmlformats.org/drawingml/2006/main">
              <a:ext uri="{FF2B5EF4-FFF2-40B4-BE49-F238E27FC236}">
                <a16:creationId xmlns:a16="http://schemas.microsoft.com/office/drawing/2014/main" id="{4847C5A6-0E09-406D-91C7-0650D8BBFCE5}"/>
              </a:ext>
            </a:extLst>
          </p:cNvPr>
          <p:cNvSpPr>
            <a:spLocks xmlns:a="http://schemas.openxmlformats.org/drawingml/2006/main" noGrp="1"/>
          </p:cNvSpPr>
          <p:nvPr/>
        </p:nvSpPr>
        <p:spPr>
          <a:xfrm xmlns:a="http://schemas.openxmlformats.org/drawingml/2006/main">
            <a:off x="714375" y="228600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MOVIE</a:t>
            </a:r>
          </a:p>
        </p:txBody>
      </p:sp>
      <p:sp>
        <p:nvSpPr>
          <p:cNvPr id="8" name="">
            <a:extLst xmlns:a="http://schemas.openxmlformats.org/drawingml/2006/main">
              <a:ext uri="{FF2B5EF4-FFF2-40B4-BE49-F238E27FC236}">
                <a16:creationId xmlns:a16="http://schemas.microsoft.com/office/drawing/2014/main" id="{C07BA462-AC07-45EE-98C8-400029661B18}"/>
              </a:ext>
            </a:extLst>
          </p:cNvPr>
          <p:cNvSpPr>
            <a:spLocks xmlns:a="http://schemas.openxmlformats.org/drawingml/2006/main" noGrp="1"/>
          </p:cNvSpPr>
          <p:nvPr/>
        </p:nvSpPr>
        <p:spPr>
          <a:xfrm xmlns:a="http://schemas.openxmlformats.org/drawingml/2006/main">
            <a:off x="714375" y="32670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STARTS</a:t>
            </a:r>
          </a:p>
        </p:txBody>
      </p:sp>
      <p:sp>
        <p:nvSpPr>
          <p:cNvPr id="9" name="">
            <a:extLst xmlns:a="http://schemas.openxmlformats.org/drawingml/2006/main">
              <a:ext uri="{FF2B5EF4-FFF2-40B4-BE49-F238E27FC236}">
                <a16:creationId xmlns:a16="http://schemas.microsoft.com/office/drawing/2014/main" id="{5591B010-8AE9-4055-991B-4C77B71285DA}"/>
              </a:ext>
            </a:extLst>
          </p:cNvPr>
          <p:cNvSpPr>
            <a:spLocks xmlns:a="http://schemas.openxmlformats.org/drawingml/2006/main" noGrp="1"/>
          </p:cNvSpPr>
          <p:nvPr/>
        </p:nvSpPr>
        <p:spPr>
          <a:xfrm xmlns:a="http://schemas.openxmlformats.org/drawingml/2006/main">
            <a:off x="714375" y="4400550"/>
            <a:ext cx="4953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Recommendation-led starts</a:t>
            </a:r>
          </a:p>
          <a:p xmlns:a="http://schemas.openxmlformats.org/drawingml/2006/main">
            <a:pPr>
              <a:defRPr sz="2100" b="0">
                <a:solidFill>
                  <a:srgbClr val="24231E"/>
                </a:solidFill>
                <a:latin typeface="DM Sans"/>
                <a:ea typeface="DM Sans"/>
                <a:cs typeface="DM Sans"/>
              </a:defRPr>
            </a:pPr>
            <a:r>
              <a:rPr sz="2100" b="0">
                <a:solidFill>
                  <a:srgbClr val="24231E"/>
                </a:solidFill>
                <a:latin typeface="DM Sans"/>
                <a:ea typeface="DM Sans"/>
                <a:cs typeface="DM Sans"/>
              </a:rPr>
              <a:t>per exposed user.</a:t>
            </a:r>
          </a:p>
        </p:txBody>
      </p:sp>
      <p:sp>
        <p:nvSpPr>
          <p:cNvPr id="10" name="">
            <a:extLst xmlns:a="http://schemas.openxmlformats.org/drawingml/2006/main">
              <a:ext uri="{FF2B5EF4-FFF2-40B4-BE49-F238E27FC236}">
                <a16:creationId xmlns:a16="http://schemas.microsoft.com/office/drawing/2014/main" id="{D58CE048-A85D-402D-946D-F32B7BB959C8}"/>
              </a:ext>
            </a:extLst>
          </p:cNvPr>
          <p:cNvSpPr>
            <a:spLocks xmlns:a="http://schemas.openxmlformats.org/drawingml/2006/main" noGrp="1"/>
          </p:cNvSpPr>
          <p:nvPr/>
        </p:nvSpPr>
        <p:spPr>
          <a:xfrm xmlns:a="http://schemas.openxmlformats.org/drawingml/2006/main">
            <a:off x="6734175" y="22955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Before the pilot</a:t>
            </a:r>
          </a:p>
        </p:txBody>
      </p:sp>
      <p:sp>
        <p:nvSpPr>
          <p:cNvPr id="11" name="">
            <a:extLst xmlns:a="http://schemas.openxmlformats.org/drawingml/2006/main">
              <a:ext uri="{FF2B5EF4-FFF2-40B4-BE49-F238E27FC236}">
                <a16:creationId xmlns:a16="http://schemas.microsoft.com/office/drawing/2014/main" id="{DA580F6B-7C00-4269-BA82-7AB4EF5C0C0C}"/>
              </a:ext>
            </a:extLst>
          </p:cNvPr>
          <p:cNvSpPr>
            <a:spLocks xmlns:a="http://schemas.openxmlformats.org/drawingml/2006/main" noGrp="1"/>
          </p:cNvSpPr>
          <p:nvPr/>
        </p:nvSpPr>
        <p:spPr>
          <a:xfrm xmlns:a="http://schemas.openxmlformats.org/drawingml/2006/main">
            <a:off x="6734175" y="273367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Global time split and ranking-trained MF.</a:t>
            </a:r>
          </a:p>
        </p:txBody>
      </p:sp>
      <p:sp>
        <p:nvSpPr>
          <p:cNvPr id="12" name="">
            <a:extLst xmlns:a="http://schemas.openxmlformats.org/drawingml/2006/main">
              <a:ext uri="{FF2B5EF4-FFF2-40B4-BE49-F238E27FC236}">
                <a16:creationId xmlns:a16="http://schemas.microsoft.com/office/drawing/2014/main" id="{91A776B6-3BB5-4823-AE04-D71343E54C90}"/>
              </a:ext>
            </a:extLst>
          </p:cNvPr>
          <p:cNvSpPr>
            <a:spLocks xmlns:a="http://schemas.openxmlformats.org/drawingml/2006/main" noGrp="1"/>
          </p:cNvSpPr>
          <p:nvPr/>
        </p:nvSpPr>
        <p:spPr>
          <a:xfrm xmlns:a="http://schemas.openxmlformats.org/drawingml/2006/main">
            <a:off x="6734175" y="3409950"/>
            <a:ext cx="4495800" cy="9525"/>
          </a:xfrm>
          <a:prstGeom xmlns:a="http://schemas.openxmlformats.org/drawingml/2006/main" prst="rect">
            <a:avLst/>
          </a:prstGeom>
          <a:solidFill xmlns:a="http://schemas.openxmlformats.org/drawingml/2006/main">
            <a:srgbClr val="BDB29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D00EC5-8F11-4A75-B406-80DE96FD9C27}"/>
              </a:ext>
            </a:extLst>
          </p:cNvPr>
          <p:cNvSpPr>
            <a:spLocks xmlns:a="http://schemas.openxmlformats.org/drawingml/2006/main" noGrp="1"/>
          </p:cNvSpPr>
          <p:nvPr/>
        </p:nvSpPr>
        <p:spPr>
          <a:xfrm xmlns:a="http://schemas.openxmlformats.org/drawingml/2006/main">
            <a:off x="6734175" y="34766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Serving</a:t>
            </a:r>
          </a:p>
        </p:txBody>
      </p:sp>
      <p:sp>
        <p:nvSpPr>
          <p:cNvPr id="14" name="">
            <a:extLst xmlns:a="http://schemas.openxmlformats.org/drawingml/2006/main">
              <a:ext uri="{FF2B5EF4-FFF2-40B4-BE49-F238E27FC236}">
                <a16:creationId xmlns:a16="http://schemas.microsoft.com/office/drawing/2014/main" id="{60AD910C-099E-4ACB-B92A-6DDFD197705E}"/>
              </a:ext>
            </a:extLst>
          </p:cNvPr>
          <p:cNvSpPr>
            <a:spLocks xmlns:a="http://schemas.openxmlformats.org/drawingml/2006/main" noGrp="1"/>
          </p:cNvSpPr>
          <p:nvPr/>
        </p:nvSpPr>
        <p:spPr>
          <a:xfrm xmlns:a="http://schemas.openxmlformats.org/drawingml/2006/main">
            <a:off x="6734175" y="391477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Popular fallback and metadata for cold start.</a:t>
            </a:r>
          </a:p>
        </p:txBody>
      </p:sp>
      <p:sp>
        <p:nvSpPr>
          <p:cNvPr id="15" name="">
            <a:extLst xmlns:a="http://schemas.openxmlformats.org/drawingml/2006/main">
              <a:ext uri="{FF2B5EF4-FFF2-40B4-BE49-F238E27FC236}">
                <a16:creationId xmlns:a16="http://schemas.microsoft.com/office/drawing/2014/main" id="{2DA29B4E-51CF-40B5-B34C-2C7273365FED}"/>
              </a:ext>
            </a:extLst>
          </p:cNvPr>
          <p:cNvSpPr>
            <a:spLocks xmlns:a="http://schemas.openxmlformats.org/drawingml/2006/main" noGrp="1"/>
          </p:cNvSpPr>
          <p:nvPr/>
        </p:nvSpPr>
        <p:spPr>
          <a:xfrm xmlns:a="http://schemas.openxmlformats.org/drawingml/2006/main">
            <a:off x="6734175" y="4591050"/>
            <a:ext cx="4495800" cy="9525"/>
          </a:xfrm>
          <a:prstGeom xmlns:a="http://schemas.openxmlformats.org/drawingml/2006/main" prst="rect">
            <a:avLst/>
          </a:prstGeom>
          <a:solidFill xmlns:a="http://schemas.openxmlformats.org/drawingml/2006/main">
            <a:srgbClr val="BDB29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DF989A-6807-4FAF-B724-4BE289950560}"/>
              </a:ext>
            </a:extLst>
          </p:cNvPr>
          <p:cNvSpPr>
            <a:spLocks xmlns:a="http://schemas.openxmlformats.org/drawingml/2006/main" noGrp="1"/>
          </p:cNvSpPr>
          <p:nvPr/>
        </p:nvSpPr>
        <p:spPr>
          <a:xfrm xmlns:a="http://schemas.openxmlformats.org/drawingml/2006/main">
            <a:off x="6734175" y="46577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Guardrails</a:t>
            </a:r>
          </a:p>
        </p:txBody>
      </p:sp>
      <p:sp>
        <p:nvSpPr>
          <p:cNvPr id="17" name="">
            <a:extLst xmlns:a="http://schemas.openxmlformats.org/drawingml/2006/main">
              <a:ext uri="{FF2B5EF4-FFF2-40B4-BE49-F238E27FC236}">
                <a16:creationId xmlns:a16="http://schemas.microsoft.com/office/drawing/2014/main" id="{6C1EA4E3-8FA4-4954-BB80-BC57A4D841D3}"/>
              </a:ext>
            </a:extLst>
          </p:cNvPr>
          <p:cNvSpPr>
            <a:spLocks xmlns:a="http://schemas.openxmlformats.org/drawingml/2006/main" noGrp="1"/>
          </p:cNvSpPr>
          <p:nvPr/>
        </p:nvSpPr>
        <p:spPr>
          <a:xfrm xmlns:a="http://schemas.openxmlformats.org/drawingml/2006/main">
            <a:off x="6734175" y="509587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Completion, catalog concentration, latency.</a:t>
            </a:r>
          </a:p>
        </p:txBody>
      </p:sp>
      <p:sp>
        <p:nvSpPr>
          <p:cNvPr id="18" name="">
            <a:extLst xmlns:a="http://schemas.openxmlformats.org/drawingml/2006/main">
              <a:ext uri="{FF2B5EF4-FFF2-40B4-BE49-F238E27FC236}">
                <a16:creationId xmlns:a16="http://schemas.microsoft.com/office/drawing/2014/main" id="{98277DC1-4BFD-414E-9B66-77A30BF3532D}"/>
              </a:ext>
            </a:extLst>
          </p:cNvPr>
          <p:cNvSpPr>
            <a:spLocks xmlns:a="http://schemas.openxmlformats.org/drawingml/2006/main" noGrp="1"/>
          </p:cNvSpPr>
          <p:nvPr/>
        </p:nvSpPr>
        <p:spPr>
          <a:xfrm xmlns:a="http://schemas.openxmlformats.org/drawingml/2006/main">
            <a:off x="6734175" y="5772150"/>
            <a:ext cx="4495800" cy="9525"/>
          </a:xfrm>
          <a:prstGeom xmlns:a="http://schemas.openxmlformats.org/drawingml/2006/main" prst="rect">
            <a:avLst/>
          </a:prstGeom>
          <a:solidFill xmlns:a="http://schemas.openxmlformats.org/drawingml/2006/main">
            <a:srgbClr val="BDB29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7457721-A550-49DD-8629-17FE8B940C22}"/>
              </a:ext>
            </a:extLst>
          </p:cNvPr>
          <p:cNvSpPr>
            <a:spLocks xmlns:a="http://schemas.openxmlformats.org/drawingml/2006/main" noGrp="1"/>
          </p:cNvSpPr>
          <p:nvPr/>
        </p:nvSpPr>
        <p:spPr>
          <a:xfrm xmlns:a="http://schemas.openxmlformats.org/drawingml/2006/main">
            <a:off x="714375" y="5762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MovieLens cannot establish ROI. A live test needs exposure and business outcome data.</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Minimize stored history, audit subgroups and provide an opt-out.</a:t>
            </a:r>
          </a:p>
        </p:txBody>
      </p:sp>
    </p:spTree>
    <p:extLst>
      <p:ext uri="{BB962C8B-B14F-4D97-AF65-F5344CB8AC3E}">
        <p14:creationId xmlns:p14="http://schemas.microsoft.com/office/powerpoint/2010/main" val="1087300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2026-10-07T03:34:53.9800000Z</dcterms:created>
  <dcterms:modified xsi:type="dcterms:W3CDTF">2026-10-07T03:34:53.9800000Z</dcterms:modified>
</coreProperties>
</file>